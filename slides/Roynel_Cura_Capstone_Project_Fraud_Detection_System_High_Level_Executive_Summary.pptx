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730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9695" y="2701138"/>
            <a:ext cx="4724705" cy="527609"/>
          </a:xfrm>
          <a:custGeom>
            <a:avLst/>
            <a:gdLst/>
            <a:ahLst/>
            <a:cxnLst/>
            <a:rect l="l" t="t" r="r" b="b"/>
            <a:pathLst>
              <a:path w="4724705" h="527609">
                <a:moveTo>
                  <a:pt x="65951" y="0"/>
                </a:moveTo>
                <a:moveTo>
                  <a:pt x="65951" y="0"/>
                </a:moveTo>
                <a:lnTo>
                  <a:pt x="4658754" y="0"/>
                </a:lnTo>
                <a:quadBezTo>
                  <a:pt x="4724705" y="0"/>
                  <a:pt x="4724705" y="65951"/>
                </a:quadBezTo>
                <a:lnTo>
                  <a:pt x="4724705" y="461658"/>
                </a:lnTo>
                <a:quadBezTo>
                  <a:pt x="4724705" y="527609"/>
                  <a:pt x="4658754" y="527609"/>
                </a:quadBezTo>
                <a:lnTo>
                  <a:pt x="65951" y="527609"/>
                </a:lnTo>
                <a:quadBezTo>
                  <a:pt x="0" y="527609"/>
                  <a:pt x="0" y="461658"/>
                </a:quadBezTo>
                <a:lnTo>
                  <a:pt x="0" y="65951"/>
                </a:lnTo>
                <a:quadBezTo>
                  <a:pt x="0" y="0"/>
                  <a:pt x="65951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8066" y="1606529"/>
            <a:ext cx="6687963" cy="10332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68" b="1" kern="0" spc="7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Smarter Fraud Detection System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2149695" y="2754630"/>
            <a:ext cx="4724705" cy="4206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Performance Machine Learning Solution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3658118" y="3348627"/>
            <a:ext cx="1707859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Roynel Cura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4371" y="680974"/>
            <a:ext cx="3275258" cy="8961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74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266574" y="1959380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Overview and Performance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07833" y="1854224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099303" y="1973096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Detection Capabilities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541083" y="1854224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267052" y="2664383"/>
            <a:ext cx="3335471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Implementation Considerations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07918" y="2545511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8847" y="1164652"/>
            <a:ext cx="139678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3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576310" y="2417732"/>
            <a:ext cx="5415715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Overview and Performance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Machine Learning Approach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41" y="1004913"/>
            <a:ext cx="2706573" cy="34396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42554" y="2041177"/>
            <a:ext cx="2448430" cy="594202"/>
          </a:xfrm>
          <a:custGeom>
            <a:avLst/>
            <a:gdLst/>
            <a:ahLst/>
            <a:cxnLst/>
            <a:rect l="l" t="t" r="r" b="b"/>
            <a:pathLst>
              <a:path w="2448430" h="594202">
                <a:moveTo>
                  <a:pt x="245983" y="0"/>
                </a:moveTo>
                <a:moveTo>
                  <a:pt x="245983" y="0"/>
                </a:moveTo>
                <a:lnTo>
                  <a:pt x="2202447" y="0"/>
                </a:lnTo>
                <a:quadBezTo>
                  <a:pt x="2448430" y="0"/>
                  <a:pt x="2448430" y="297101"/>
                </a:quadBezTo>
                <a:lnTo>
                  <a:pt x="2448430" y="297101"/>
                </a:lnTo>
                <a:quadBezTo>
                  <a:pt x="2448430" y="594202"/>
                  <a:pt x="2202447" y="594202"/>
                </a:quadBezTo>
                <a:lnTo>
                  <a:pt x="245983" y="594202"/>
                </a:lnTo>
                <a:quadBezTo>
                  <a:pt x="0" y="594202"/>
                  <a:pt x="0" y="297101"/>
                </a:quadBezTo>
                <a:lnTo>
                  <a:pt x="0" y="297101"/>
                </a:lnTo>
                <a:quadBezTo>
                  <a:pt x="0" y="0"/>
                  <a:pt x="245983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295784" y="1095469"/>
            <a:ext cx="741688" cy="10058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i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3900" y="1004967"/>
            <a:ext cx="2706759" cy="343993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53064" y="2041177"/>
            <a:ext cx="2448430" cy="594202"/>
          </a:xfrm>
          <a:custGeom>
            <a:avLst/>
            <a:gdLst/>
            <a:ahLst/>
            <a:cxnLst/>
            <a:rect l="l" t="t" r="r" b="b"/>
            <a:pathLst>
              <a:path w="2448430" h="594202">
                <a:moveTo>
                  <a:pt x="245983" y="0"/>
                </a:moveTo>
                <a:moveTo>
                  <a:pt x="245983" y="0"/>
                </a:moveTo>
                <a:lnTo>
                  <a:pt x="2202447" y="0"/>
                </a:lnTo>
                <a:quadBezTo>
                  <a:pt x="2448430" y="0"/>
                  <a:pt x="2448430" y="297101"/>
                </a:quadBezTo>
                <a:lnTo>
                  <a:pt x="2448430" y="297101"/>
                </a:lnTo>
                <a:quadBezTo>
                  <a:pt x="2448430" y="594202"/>
                  <a:pt x="2202447" y="594202"/>
                </a:quadBezTo>
                <a:lnTo>
                  <a:pt x="245983" y="594202"/>
                </a:lnTo>
                <a:quadBezTo>
                  <a:pt x="0" y="594202"/>
                  <a:pt x="0" y="297101"/>
                </a:quadBezTo>
                <a:lnTo>
                  <a:pt x="0" y="297101"/>
                </a:lnTo>
                <a:quadBezTo>
                  <a:pt x="0" y="0"/>
                  <a:pt x="245983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7106435" y="1095469"/>
            <a:ext cx="741688" cy="10058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i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523852" y="2153079"/>
            <a:ext cx="2285552" cy="37039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Algorithms and Models</a:t>
            </a:r>
            <a:endParaRPr lang="en-US" sz="1440" dirty="0"/>
          </a:p>
        </p:txBody>
      </p:sp>
      <p:sp>
        <p:nvSpPr>
          <p:cNvPr id="10" name="Text 6"/>
          <p:cNvSpPr/>
          <p:nvPr/>
        </p:nvSpPr>
        <p:spPr>
          <a:xfrm>
            <a:off x="564509" y="2621709"/>
            <a:ext cx="2204238" cy="1499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system employs gradient boosting algorithms and neural networks to identify complex fraud patterns beyond what traditional rule-based systems can detect.</a:t>
            </a:r>
            <a:endParaRPr lang="en-US" sz="144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44" y="1004913"/>
            <a:ext cx="2706759" cy="343993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347809" y="2041177"/>
            <a:ext cx="2448430" cy="594202"/>
          </a:xfrm>
          <a:custGeom>
            <a:avLst/>
            <a:gdLst/>
            <a:ahLst/>
            <a:cxnLst/>
            <a:rect l="l" t="t" r="r" b="b"/>
            <a:pathLst>
              <a:path w="2448430" h="594202">
                <a:moveTo>
                  <a:pt x="245983" y="0"/>
                </a:moveTo>
                <a:moveTo>
                  <a:pt x="245983" y="0"/>
                </a:moveTo>
                <a:lnTo>
                  <a:pt x="2202447" y="0"/>
                </a:lnTo>
                <a:quadBezTo>
                  <a:pt x="2448430" y="0"/>
                  <a:pt x="2448430" y="297101"/>
                </a:quadBezTo>
                <a:lnTo>
                  <a:pt x="2448430" y="297101"/>
                </a:lnTo>
                <a:quadBezTo>
                  <a:pt x="2448430" y="594202"/>
                  <a:pt x="2202447" y="594202"/>
                </a:quadBezTo>
                <a:lnTo>
                  <a:pt x="245983" y="594202"/>
                </a:lnTo>
                <a:quadBezTo>
                  <a:pt x="0" y="594202"/>
                  <a:pt x="0" y="297101"/>
                </a:quadBezTo>
                <a:lnTo>
                  <a:pt x="0" y="297101"/>
                </a:lnTo>
                <a:quadBezTo>
                  <a:pt x="0" y="0"/>
                  <a:pt x="245983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8"/>
          <p:cNvSpPr/>
          <p:nvPr/>
        </p:nvSpPr>
        <p:spPr>
          <a:xfrm>
            <a:off x="4201180" y="1095469"/>
            <a:ext cx="741688" cy="10058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i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3429248" y="2143581"/>
            <a:ext cx="2285552" cy="38939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 Engineering Process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3469905" y="2621709"/>
            <a:ext cx="2204238" cy="1499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characteristics were transformed into predictive features, highlighting amount, category, and timing as key indicators of potential fraudulent activity.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6334267" y="2157827"/>
            <a:ext cx="2286024" cy="36090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Training Methodology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6375160" y="2621709"/>
            <a:ext cx="2204238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model was trained on millions of labeled transactions with special emphasis on class imbalance techniques to address the rarity of fraud events.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Near-Real Time Adaptation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221830" y="1005840"/>
            <a:ext cx="2728570" cy="3776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Learning System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241423" y="1429207"/>
            <a:ext cx="272857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system continuously learns from new transaction patterns, allowing it to adapt to emerging fraud techniques without manual intervention or system downtime.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3201860" y="2993746"/>
            <a:ext cx="2728570" cy="3776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Dynamic Rule Adjustment</a:t>
            </a:r>
            <a:endParaRPr lang="en-US" sz="1440" dirty="0"/>
          </a:p>
        </p:txBody>
      </p:sp>
      <p:sp>
        <p:nvSpPr>
          <p:cNvPr id="8" name="Text 4"/>
          <p:cNvSpPr/>
          <p:nvPr/>
        </p:nvSpPr>
        <p:spPr>
          <a:xfrm>
            <a:off x="3201499" y="3413455"/>
            <a:ext cx="2728570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Unlike static rule-based systems, our model automatically adjusts detection parameters based on real-time transaction data, maintaining effectiveness against evolving fraud tactics.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6193600" y="1005840"/>
            <a:ext cx="2728570" cy="3776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 Response Framework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6193600" y="1429207"/>
            <a:ext cx="2728570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system processes and evaluates transactions within milliseconds, providing immediate fraud risk assessments and enabling instant decision-making at the point of transaction.</a:t>
            </a:r>
            <a:endParaRPr lang="en-US" sz="1440" dirty="0"/>
          </a:p>
        </p:txBody>
      </p:sp>
      <p:pic>
        <p:nvPicPr>
          <p:cNvPr id="13" name="Graphic 12" descr="Idea outline">
            <a:extLst>
              <a:ext uri="{FF2B5EF4-FFF2-40B4-BE49-F238E27FC236}">
                <a16:creationId xmlns:a16="http://schemas.microsoft.com/office/drawing/2014/main" id="{B6A7345A-2D09-433A-BDBC-86DB75F78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68" y="3298108"/>
            <a:ext cx="839550" cy="839550"/>
          </a:xfrm>
          <a:prstGeom prst="rect">
            <a:avLst/>
          </a:prstGeom>
        </p:spPr>
      </p:pic>
      <p:pic>
        <p:nvPicPr>
          <p:cNvPr id="15" name="Graphic 14" descr="Settings with solid fill">
            <a:extLst>
              <a:ext uri="{FF2B5EF4-FFF2-40B4-BE49-F238E27FC236}">
                <a16:creationId xmlns:a16="http://schemas.microsoft.com/office/drawing/2014/main" id="{AAD1C890-6BA2-9543-D0C5-3216941411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2641" y="1265413"/>
            <a:ext cx="968815" cy="968815"/>
          </a:xfrm>
          <a:prstGeom prst="rect">
            <a:avLst/>
          </a:prstGeom>
        </p:spPr>
      </p:pic>
      <p:pic>
        <p:nvPicPr>
          <p:cNvPr id="17" name="Graphic 16" descr="Stopwatch 75% with solid fill">
            <a:extLst>
              <a:ext uri="{FF2B5EF4-FFF2-40B4-BE49-F238E27FC236}">
                <a16:creationId xmlns:a16="http://schemas.microsoft.com/office/drawing/2014/main" id="{9BEB4979-5012-130A-899B-3CF52AB73E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48993" y="3144882"/>
            <a:ext cx="992778" cy="992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Performance Metrics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4605633" y="2476271"/>
            <a:ext cx="0" cy="337765"/>
          </a:xfrm>
          <a:custGeom>
            <a:avLst/>
            <a:gdLst/>
            <a:ahLst/>
            <a:cxnLst/>
            <a:rect l="l" t="t" r="r" b="b"/>
            <a:pathLst>
              <a:path h="337765">
                <a:moveTo>
                  <a:pt x="0" y="0"/>
                </a:moveTo>
                <a:moveTo>
                  <a:pt x="0" y="0"/>
                </a:moveTo>
                <a:lnTo>
                  <a:pt x="0" y="337765"/>
                </a:lnTo>
              </a:path>
            </a:pathLst>
          </a:custGeom>
          <a:noFill/>
          <a:ln w="9525">
            <a:solidFill>
              <a:srgbClr val="A0A9B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277853" y="996893"/>
            <a:ext cx="849980" cy="849980"/>
          </a:xfrm>
          <a:custGeom>
            <a:avLst/>
            <a:gdLst/>
            <a:ahLst/>
            <a:cxnLst/>
            <a:rect l="l" t="t" r="r" b="b"/>
            <a:pathLst>
              <a:path w="849980" h="849980">
                <a:moveTo>
                  <a:pt x="424990" y="0"/>
                </a:moveTo>
                <a:moveTo>
                  <a:pt x="424990" y="0"/>
                </a:moveTo>
                <a:cubicBezTo>
                  <a:pt x="659549" y="0"/>
                  <a:pt x="849980" y="190432"/>
                  <a:pt x="849980" y="424990"/>
                </a:cubicBezTo>
                <a:cubicBezTo>
                  <a:pt x="849980" y="659549"/>
                  <a:pt x="659549" y="849980"/>
                  <a:pt x="424990" y="849980"/>
                </a:cubicBezTo>
                <a:cubicBezTo>
                  <a:pt x="190432" y="849980"/>
                  <a:pt x="0" y="659549"/>
                  <a:pt x="0" y="424990"/>
                </a:cubicBezTo>
                <a:cubicBezTo>
                  <a:pt x="0" y="190432"/>
                  <a:pt x="190432" y="0"/>
                  <a:pt x="424990" y="0"/>
                </a:cubicBezTo>
                <a:close/>
              </a:path>
            </a:pathLst>
          </a:custGeom>
          <a:solidFill>
            <a:srgbClr val="FF7E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70327" y="2964042"/>
            <a:ext cx="849980" cy="849980"/>
          </a:xfrm>
          <a:custGeom>
            <a:avLst/>
            <a:gdLst/>
            <a:ahLst/>
            <a:cxnLst/>
            <a:rect l="l" t="t" r="r" b="b"/>
            <a:pathLst>
              <a:path w="849980" h="849980">
                <a:moveTo>
                  <a:pt x="424990" y="0"/>
                </a:moveTo>
                <a:moveTo>
                  <a:pt x="424990" y="0"/>
                </a:moveTo>
                <a:cubicBezTo>
                  <a:pt x="659549" y="0"/>
                  <a:pt x="849980" y="190432"/>
                  <a:pt x="849980" y="424990"/>
                </a:cubicBezTo>
                <a:cubicBezTo>
                  <a:pt x="849980" y="659549"/>
                  <a:pt x="659549" y="849980"/>
                  <a:pt x="424990" y="849980"/>
                </a:cubicBezTo>
                <a:cubicBezTo>
                  <a:pt x="190432" y="849980"/>
                  <a:pt x="0" y="659549"/>
                  <a:pt x="0" y="424990"/>
                </a:cubicBezTo>
                <a:cubicBezTo>
                  <a:pt x="0" y="190432"/>
                  <a:pt x="190432" y="0"/>
                  <a:pt x="424990" y="0"/>
                </a:cubicBezTo>
                <a:close/>
              </a:path>
            </a:pathLst>
          </a:custGeom>
          <a:solidFill>
            <a:srgbClr val="FF7E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26406" y="1416515"/>
            <a:ext cx="1354237" cy="251800"/>
          </a:xfrm>
          <a:custGeom>
            <a:avLst/>
            <a:gdLst/>
            <a:ahLst/>
            <a:cxnLst/>
            <a:rect l="l" t="t" r="r" b="b"/>
            <a:pathLst>
              <a:path w="1354237" h="251800">
                <a:moveTo>
                  <a:pt x="1354237" y="251800"/>
                </a:moveTo>
                <a:moveTo>
                  <a:pt x="1354237" y="2518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A0A9B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833940" y="996893"/>
            <a:ext cx="1543386" cy="1543386"/>
          </a:xfrm>
          <a:custGeom>
            <a:avLst/>
            <a:gdLst/>
            <a:ahLst/>
            <a:cxnLst/>
            <a:rect l="l" t="t" r="r" b="b"/>
            <a:pathLst>
              <a:path w="1543386" h="1543386">
                <a:moveTo>
                  <a:pt x="771693" y="0"/>
                </a:moveTo>
                <a:moveTo>
                  <a:pt x="771693" y="0"/>
                </a:moveTo>
                <a:cubicBezTo>
                  <a:pt x="1197602" y="0"/>
                  <a:pt x="1543386" y="345784"/>
                  <a:pt x="1543386" y="771693"/>
                </a:cubicBezTo>
                <a:cubicBezTo>
                  <a:pt x="1543386" y="1197602"/>
                  <a:pt x="1197602" y="1543386"/>
                  <a:pt x="771693" y="1543386"/>
                </a:cubicBezTo>
                <a:cubicBezTo>
                  <a:pt x="345784" y="1543386"/>
                  <a:pt x="0" y="1197602"/>
                  <a:pt x="0" y="771693"/>
                </a:cubicBezTo>
                <a:cubicBezTo>
                  <a:pt x="0" y="345784"/>
                  <a:pt x="345784" y="0"/>
                  <a:pt x="771693" y="0"/>
                </a:cubic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273" y="1372227"/>
            <a:ext cx="792719" cy="792719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5020" y="3138735"/>
            <a:ext cx="500594" cy="500594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2547" y="1171587"/>
            <a:ext cx="500594" cy="50059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057314" y="996893"/>
            <a:ext cx="849980" cy="849980"/>
          </a:xfrm>
          <a:custGeom>
            <a:avLst/>
            <a:gdLst/>
            <a:ahLst/>
            <a:cxnLst/>
            <a:rect l="l" t="t" r="r" b="b"/>
            <a:pathLst>
              <a:path w="849980" h="849980">
                <a:moveTo>
                  <a:pt x="424990" y="0"/>
                </a:moveTo>
                <a:moveTo>
                  <a:pt x="424990" y="0"/>
                </a:moveTo>
                <a:cubicBezTo>
                  <a:pt x="659549" y="0"/>
                  <a:pt x="849980" y="190432"/>
                  <a:pt x="849980" y="424990"/>
                </a:cubicBezTo>
                <a:cubicBezTo>
                  <a:pt x="849980" y="659549"/>
                  <a:pt x="659549" y="849980"/>
                  <a:pt x="424990" y="849980"/>
                </a:cubicBezTo>
                <a:cubicBezTo>
                  <a:pt x="190432" y="849980"/>
                  <a:pt x="0" y="659549"/>
                  <a:pt x="0" y="424990"/>
                </a:cubicBezTo>
                <a:cubicBezTo>
                  <a:pt x="0" y="190432"/>
                  <a:pt x="190432" y="0"/>
                  <a:pt x="424990" y="0"/>
                </a:cubicBezTo>
                <a:close/>
              </a:path>
            </a:pathLst>
          </a:custGeom>
          <a:solidFill>
            <a:srgbClr val="FF7E0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008" y="1171587"/>
            <a:ext cx="500594" cy="5005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93876" y="1944929"/>
            <a:ext cx="2700304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Capture Rate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268784" y="2346822"/>
            <a:ext cx="2724431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system achieves 95.4% recall, successfully identifying the vast majority of fraudulent transactions and significantly reducing financial losses.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1946278" y="3813962"/>
            <a:ext cx="5228539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Precision-Recall Balance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1447472" y="4096512"/>
            <a:ext cx="622615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system prioritizes fraud detection (high recall) with moderate precision (16.3%), ensuring comprehensive protection while flagging some legitimate transactions for review.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6191629" y="1945308"/>
            <a:ext cx="2683587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Accuracy Score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6191629" y="2346822"/>
            <a:ext cx="2683587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 an AUC-ROC of 0.995, the system demonstrates exceptional ability to distinguish between legitimate transactions and fraud attempts.</a:t>
            </a:r>
            <a:endParaRPr lang="en-US" sz="1440" dirty="0"/>
          </a:p>
        </p:txBody>
      </p:sp>
      <p:sp>
        <p:nvSpPr>
          <p:cNvPr id="19" name="Shape 13"/>
          <p:cNvSpPr/>
          <p:nvPr/>
        </p:nvSpPr>
        <p:spPr>
          <a:xfrm>
            <a:off x="5377325" y="1414343"/>
            <a:ext cx="1221223" cy="253972"/>
          </a:xfrm>
          <a:custGeom>
            <a:avLst/>
            <a:gdLst/>
            <a:ahLst/>
            <a:cxnLst/>
            <a:rect l="l" t="t" r="r" b="b"/>
            <a:pathLst>
              <a:path w="1221223" h="253972">
                <a:moveTo>
                  <a:pt x="0" y="253972"/>
                </a:moveTo>
                <a:moveTo>
                  <a:pt x="0" y="253972"/>
                </a:moveTo>
                <a:lnTo>
                  <a:pt x="1221223" y="0"/>
                </a:lnTo>
              </a:path>
            </a:pathLst>
          </a:custGeom>
          <a:noFill/>
          <a:ln w="9525">
            <a:solidFill>
              <a:srgbClr val="A0A9B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8847" y="1164652"/>
            <a:ext cx="139678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3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576310" y="2417732"/>
            <a:ext cx="5415715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Detection Capabilities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95.4% Fraud Capture Rate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245637" y="978502"/>
            <a:ext cx="87820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312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319916" y="1722879"/>
            <a:ext cx="1976937" cy="383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Industry-Leading Detection Performance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319916" y="2351627"/>
            <a:ext cx="1977017" cy="1719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system captures 95.4% of all fraudulent transactions, significantly outperforming industry standards and minimizing financial losses for both customers and the company.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2457840" y="978502"/>
            <a:ext cx="87820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312" b="1" dirty="0">
                <a:solidFill>
                  <a:srgbClr val="FF7E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2532381" y="1722879"/>
            <a:ext cx="1977017" cy="383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Machine Learning Implementation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2532381" y="2351557"/>
            <a:ext cx="1977017" cy="19385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high capture rate stems from sophisticated algorithms that continuously learn from transaction patterns, adapting to new fraud techniques faster than traditional rule-based systems.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4595299" y="978502"/>
            <a:ext cx="87820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312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4670101" y="1723276"/>
            <a:ext cx="1977017" cy="383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Precision vs. Recall Balance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4670044" y="2351557"/>
            <a:ext cx="1977017" cy="19385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prioritized comprehensive fraud detection (recall) over precision, ensuring maximum security while accepting some legitimate transactions may require additional verification.</a:t>
            </a:r>
            <a:endParaRPr lang="en-US" sz="1440" dirty="0"/>
          </a:p>
        </p:txBody>
      </p:sp>
      <p:pic>
        <p:nvPicPr>
          <p:cNvPr id="14" name="Graphic 13" descr="Harvey Balls 95% with solid fill">
            <a:extLst>
              <a:ext uri="{FF2B5EF4-FFF2-40B4-BE49-F238E27FC236}">
                <a16:creationId xmlns:a16="http://schemas.microsoft.com/office/drawing/2014/main" id="{1BA394A0-2A4A-A8FF-B27A-E3140BB99B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4875" y="674474"/>
            <a:ext cx="3396225" cy="3396225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CD5D0102-4CD5-717F-5E6B-C644D2805DA0}"/>
              </a:ext>
            </a:extLst>
          </p:cNvPr>
          <p:cNvSpPr/>
          <p:nvPr/>
        </p:nvSpPr>
        <p:spPr>
          <a:xfrm>
            <a:off x="7110590" y="2198257"/>
            <a:ext cx="2033410" cy="101290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000" b="1" dirty="0">
                <a:solidFill>
                  <a:schemeClr val="bg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95.4%</a:t>
            </a:r>
            <a:endParaRPr lang="en-US" sz="5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Model Accuracy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350943" y="1105195"/>
            <a:ext cx="3129042" cy="3129042"/>
          </a:xfrm>
          <a:custGeom>
            <a:avLst/>
            <a:gdLst/>
            <a:ahLst/>
            <a:cxnLst/>
            <a:rect l="l" t="t" r="r" b="b"/>
            <a:pathLst>
              <a:path w="3129042" h="3129042">
                <a:moveTo>
                  <a:pt x="1564521" y="0"/>
                </a:moveTo>
                <a:moveTo>
                  <a:pt x="1564521" y="0"/>
                </a:moveTo>
                <a:cubicBezTo>
                  <a:pt x="2428003" y="0"/>
                  <a:pt x="3129042" y="701038"/>
                  <a:pt x="3129042" y="1564521"/>
                </a:cubicBezTo>
                <a:cubicBezTo>
                  <a:pt x="3129042" y="2428003"/>
                  <a:pt x="2428003" y="3129042"/>
                  <a:pt x="1564521" y="3129042"/>
                </a:cubicBezTo>
                <a:cubicBezTo>
                  <a:pt x="701038" y="3129042"/>
                  <a:pt x="0" y="2428003"/>
                  <a:pt x="0" y="1564521"/>
                </a:cubicBezTo>
                <a:cubicBezTo>
                  <a:pt x="0" y="701038"/>
                  <a:pt x="701038" y="0"/>
                  <a:pt x="1564521" y="0"/>
                </a:cubicBezTo>
                <a:close/>
              </a:path>
            </a:pathLst>
          </a:custGeom>
          <a:solidFill>
            <a:srgbClr val="FF9B01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998203" y="1282384"/>
            <a:ext cx="704600" cy="6766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592" b="1" i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Shape 3"/>
          <p:cNvSpPr/>
          <p:nvPr/>
        </p:nvSpPr>
        <p:spPr>
          <a:xfrm>
            <a:off x="2992891" y="1105195"/>
            <a:ext cx="3129042" cy="3129042"/>
          </a:xfrm>
          <a:custGeom>
            <a:avLst/>
            <a:gdLst/>
            <a:ahLst/>
            <a:cxnLst/>
            <a:rect l="l" t="t" r="r" b="b"/>
            <a:pathLst>
              <a:path w="3129042" h="3129042">
                <a:moveTo>
                  <a:pt x="1564521" y="0"/>
                </a:moveTo>
                <a:moveTo>
                  <a:pt x="1564521" y="0"/>
                </a:moveTo>
                <a:cubicBezTo>
                  <a:pt x="2428003" y="0"/>
                  <a:pt x="3129042" y="701038"/>
                  <a:pt x="3129042" y="1564521"/>
                </a:cubicBezTo>
                <a:cubicBezTo>
                  <a:pt x="3129042" y="2428003"/>
                  <a:pt x="2428003" y="3129042"/>
                  <a:pt x="1564521" y="3129042"/>
                </a:cubicBezTo>
                <a:cubicBezTo>
                  <a:pt x="701038" y="3129042"/>
                  <a:pt x="0" y="2428003"/>
                  <a:pt x="0" y="1564521"/>
                </a:cubicBezTo>
                <a:cubicBezTo>
                  <a:pt x="0" y="701038"/>
                  <a:pt x="701038" y="0"/>
                  <a:pt x="1564521" y="0"/>
                </a:cubicBezTo>
                <a:close/>
              </a:path>
            </a:pathLst>
          </a:custGeom>
          <a:solidFill>
            <a:srgbClr val="FF7E01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640151" y="1282384"/>
            <a:ext cx="704600" cy="6766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592" b="1" i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5664016" y="1105195"/>
            <a:ext cx="3129042" cy="3129042"/>
          </a:xfrm>
          <a:custGeom>
            <a:avLst/>
            <a:gdLst/>
            <a:ahLst/>
            <a:cxnLst/>
            <a:rect l="l" t="t" r="r" b="b"/>
            <a:pathLst>
              <a:path w="3129042" h="3129042">
                <a:moveTo>
                  <a:pt x="1564521" y="0"/>
                </a:moveTo>
                <a:moveTo>
                  <a:pt x="1564521" y="0"/>
                </a:moveTo>
                <a:cubicBezTo>
                  <a:pt x="2428003" y="0"/>
                  <a:pt x="3129042" y="701038"/>
                  <a:pt x="3129042" y="1564521"/>
                </a:cubicBezTo>
                <a:cubicBezTo>
                  <a:pt x="3129042" y="2428003"/>
                  <a:pt x="2428003" y="3129042"/>
                  <a:pt x="1564521" y="3129042"/>
                </a:cubicBezTo>
                <a:cubicBezTo>
                  <a:pt x="701038" y="3129042"/>
                  <a:pt x="0" y="2428003"/>
                  <a:pt x="0" y="1564521"/>
                </a:cubicBezTo>
                <a:cubicBezTo>
                  <a:pt x="0" y="701038"/>
                  <a:pt x="701038" y="0"/>
                  <a:pt x="1564521" y="0"/>
                </a:cubicBezTo>
                <a:close/>
              </a:path>
            </a:pathLst>
          </a:custGeom>
          <a:solidFill>
            <a:srgbClr val="FF9B01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311275" y="1282384"/>
            <a:ext cx="704600" cy="6766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592" b="1" i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479872" y="2029895"/>
            <a:ext cx="2599537" cy="4101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96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Near-Perfect AUC-ROC Score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663668" y="2453883"/>
            <a:ext cx="2415740" cy="14647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model achieves 0.995 AUC-ROC, demonstrating exceptional discrimination between legitimate transactions and fraudulent activities across diverse scenarios.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3337266" y="2029895"/>
            <a:ext cx="2326750" cy="4101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96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Robust Fraud Detection Capability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3424930" y="2453883"/>
            <a:ext cx="2317735" cy="14647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 95.4% recall rate, our system captures nearly all fraudulent transactions, significantly outperforming traditional rule-based detection methods.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6054243" y="2029895"/>
            <a:ext cx="2663316" cy="4101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96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Transparent Decision Framework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6121933" y="2453883"/>
            <a:ext cx="2191899" cy="14647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Clear identification of key fraud indicators enables defensible decision-making, focusing on transaction amount and category as primary detection factors.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Pattern Analysis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694142" y="1031575"/>
            <a:ext cx="2259419" cy="3578265"/>
          </a:xfrm>
          <a:custGeom>
            <a:avLst/>
            <a:gdLst/>
            <a:ahLst/>
            <a:cxnLst/>
            <a:rect l="l" t="t" r="r" b="b"/>
            <a:pathLst>
              <a:path w="2259419" h="3578265">
                <a:moveTo>
                  <a:pt x="1129709" y="0"/>
                </a:moveTo>
                <a:moveTo>
                  <a:pt x="1129709" y="0"/>
                </a:moveTo>
                <a:lnTo>
                  <a:pt x="1129709" y="0"/>
                </a:lnTo>
                <a:quadBezTo>
                  <a:pt x="2259419" y="0"/>
                  <a:pt x="2259419" y="1235620"/>
                </a:quadBezTo>
                <a:lnTo>
                  <a:pt x="2259419" y="2342645"/>
                </a:lnTo>
                <a:quadBezTo>
                  <a:pt x="2259419" y="3578265"/>
                  <a:pt x="1129709" y="3578265"/>
                </a:quadBezTo>
                <a:lnTo>
                  <a:pt x="1129709" y="3578265"/>
                </a:lnTo>
                <a:quadBezTo>
                  <a:pt x="0" y="3578265"/>
                  <a:pt x="0" y="2342645"/>
                </a:quadBezTo>
                <a:lnTo>
                  <a:pt x="0" y="1235620"/>
                </a:lnTo>
                <a:quadBezTo>
                  <a:pt x="0" y="0"/>
                  <a:pt x="1129709" y="0"/>
                </a:quadBezTo>
                <a:close/>
              </a:path>
            </a:pathLst>
          </a:custGeom>
          <a:solidFill>
            <a:srgbClr val="F4F7FF">
              <a:alpha val="0"/>
            </a:srgbClr>
          </a:solidFill>
          <a:ln w="19050">
            <a:solidFill>
              <a:srgbClr val="FF9B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636371" y="4414953"/>
            <a:ext cx="374961" cy="374961"/>
          </a:xfrm>
          <a:custGeom>
            <a:avLst/>
            <a:gdLst/>
            <a:ahLst/>
            <a:cxnLst/>
            <a:rect l="l" t="t" r="r" b="b"/>
            <a:pathLst>
              <a:path w="374961" h="374961">
                <a:moveTo>
                  <a:pt x="187481" y="0"/>
                </a:moveTo>
                <a:moveTo>
                  <a:pt x="187481" y="0"/>
                </a:moveTo>
                <a:cubicBezTo>
                  <a:pt x="290954" y="0"/>
                  <a:pt x="374961" y="84007"/>
                  <a:pt x="374961" y="187481"/>
                </a:cubicBezTo>
                <a:cubicBezTo>
                  <a:pt x="374961" y="290954"/>
                  <a:pt x="290954" y="374961"/>
                  <a:pt x="187481" y="374961"/>
                </a:cubicBezTo>
                <a:cubicBezTo>
                  <a:pt x="84007" y="374961"/>
                  <a:pt x="0" y="290954"/>
                  <a:pt x="0" y="187481"/>
                </a:cubicBezTo>
                <a:cubicBezTo>
                  <a:pt x="0" y="84007"/>
                  <a:pt x="84007" y="0"/>
                  <a:pt x="187481" y="0"/>
                </a:cubic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442291" y="1031575"/>
            <a:ext cx="2259419" cy="3578265"/>
          </a:xfrm>
          <a:custGeom>
            <a:avLst/>
            <a:gdLst/>
            <a:ahLst/>
            <a:cxnLst/>
            <a:rect l="l" t="t" r="r" b="b"/>
            <a:pathLst>
              <a:path w="2259419" h="3578265">
                <a:moveTo>
                  <a:pt x="1129709" y="0"/>
                </a:moveTo>
                <a:moveTo>
                  <a:pt x="1129709" y="0"/>
                </a:moveTo>
                <a:lnTo>
                  <a:pt x="1129709" y="0"/>
                </a:lnTo>
                <a:quadBezTo>
                  <a:pt x="2259419" y="0"/>
                  <a:pt x="2259419" y="1235620"/>
                </a:quadBezTo>
                <a:lnTo>
                  <a:pt x="2259419" y="2342645"/>
                </a:lnTo>
                <a:quadBezTo>
                  <a:pt x="2259419" y="3578265"/>
                  <a:pt x="1129709" y="3578265"/>
                </a:quadBezTo>
                <a:lnTo>
                  <a:pt x="1129709" y="3578265"/>
                </a:lnTo>
                <a:quadBezTo>
                  <a:pt x="0" y="3578265"/>
                  <a:pt x="0" y="2342645"/>
                </a:quadBezTo>
                <a:lnTo>
                  <a:pt x="0" y="1235620"/>
                </a:lnTo>
                <a:quadBezTo>
                  <a:pt x="0" y="0"/>
                  <a:pt x="1129709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384519" y="4414953"/>
            <a:ext cx="374961" cy="374961"/>
          </a:xfrm>
          <a:custGeom>
            <a:avLst/>
            <a:gdLst/>
            <a:ahLst/>
            <a:cxnLst/>
            <a:rect l="l" t="t" r="r" b="b"/>
            <a:pathLst>
              <a:path w="374961" h="374961">
                <a:moveTo>
                  <a:pt x="187481" y="0"/>
                </a:moveTo>
                <a:moveTo>
                  <a:pt x="187481" y="0"/>
                </a:moveTo>
                <a:cubicBezTo>
                  <a:pt x="290954" y="0"/>
                  <a:pt x="374961" y="84007"/>
                  <a:pt x="374961" y="187481"/>
                </a:cubicBezTo>
                <a:cubicBezTo>
                  <a:pt x="374961" y="290954"/>
                  <a:pt x="290954" y="374961"/>
                  <a:pt x="187481" y="374961"/>
                </a:cubicBezTo>
                <a:cubicBezTo>
                  <a:pt x="84007" y="374961"/>
                  <a:pt x="0" y="290954"/>
                  <a:pt x="0" y="187481"/>
                </a:cubicBezTo>
                <a:cubicBezTo>
                  <a:pt x="0" y="84007"/>
                  <a:pt x="84007" y="0"/>
                  <a:pt x="187481" y="0"/>
                </a:cubicBezTo>
                <a:close/>
              </a:path>
            </a:pathLst>
          </a:custGeom>
          <a:solidFill>
            <a:srgbClr val="F4F7FF"/>
          </a:solidFill>
          <a:ln w="9525">
            <a:solidFill>
              <a:srgbClr val="FF9B01">
                <a:alpha val="23922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190439" y="1031575"/>
            <a:ext cx="2259419" cy="3578265"/>
          </a:xfrm>
          <a:custGeom>
            <a:avLst/>
            <a:gdLst/>
            <a:ahLst/>
            <a:cxnLst/>
            <a:rect l="l" t="t" r="r" b="b"/>
            <a:pathLst>
              <a:path w="2259419" h="3578265">
                <a:moveTo>
                  <a:pt x="1129709" y="0"/>
                </a:moveTo>
                <a:moveTo>
                  <a:pt x="1129709" y="0"/>
                </a:moveTo>
                <a:lnTo>
                  <a:pt x="1129709" y="0"/>
                </a:lnTo>
                <a:quadBezTo>
                  <a:pt x="2259419" y="0"/>
                  <a:pt x="2259419" y="1235620"/>
                </a:quadBezTo>
                <a:lnTo>
                  <a:pt x="2259419" y="2342645"/>
                </a:lnTo>
                <a:quadBezTo>
                  <a:pt x="2259419" y="3578265"/>
                  <a:pt x="1129709" y="3578265"/>
                </a:quadBezTo>
                <a:lnTo>
                  <a:pt x="1129709" y="3578265"/>
                </a:lnTo>
                <a:quadBezTo>
                  <a:pt x="0" y="3578265"/>
                  <a:pt x="0" y="2342645"/>
                </a:quadBezTo>
                <a:lnTo>
                  <a:pt x="0" y="1235620"/>
                </a:lnTo>
                <a:quadBezTo>
                  <a:pt x="0" y="0"/>
                  <a:pt x="1129709" y="0"/>
                </a:quadBezTo>
                <a:close/>
              </a:path>
            </a:pathLst>
          </a:custGeom>
          <a:solidFill>
            <a:srgbClr val="F4F7FF">
              <a:alpha val="0"/>
            </a:srgbClr>
          </a:solidFill>
          <a:ln w="19050">
            <a:solidFill>
              <a:srgbClr val="FF9B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132668" y="4414953"/>
            <a:ext cx="374961" cy="374961"/>
          </a:xfrm>
          <a:custGeom>
            <a:avLst/>
            <a:gdLst/>
            <a:ahLst/>
            <a:cxnLst/>
            <a:rect l="l" t="t" r="r" b="b"/>
            <a:pathLst>
              <a:path w="374961" h="374961">
                <a:moveTo>
                  <a:pt x="187481" y="0"/>
                </a:moveTo>
                <a:moveTo>
                  <a:pt x="187481" y="0"/>
                </a:moveTo>
                <a:cubicBezTo>
                  <a:pt x="290954" y="0"/>
                  <a:pt x="374961" y="84007"/>
                  <a:pt x="374961" y="187481"/>
                </a:cubicBezTo>
                <a:cubicBezTo>
                  <a:pt x="374961" y="290954"/>
                  <a:pt x="290954" y="374961"/>
                  <a:pt x="187481" y="374961"/>
                </a:cubicBezTo>
                <a:cubicBezTo>
                  <a:pt x="84007" y="374961"/>
                  <a:pt x="0" y="290954"/>
                  <a:pt x="0" y="187481"/>
                </a:cubicBezTo>
                <a:cubicBezTo>
                  <a:pt x="0" y="84007"/>
                  <a:pt x="84007" y="0"/>
                  <a:pt x="187481" y="0"/>
                </a:cubic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301" y="4497735"/>
            <a:ext cx="209398" cy="209398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153" y="4497735"/>
            <a:ext cx="209398" cy="209398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449" y="4497735"/>
            <a:ext cx="209398" cy="2093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4142" y="2821082"/>
            <a:ext cx="2259419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Temporal Anomaly Detection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833973" y="3190230"/>
            <a:ext cx="197975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Analysis of unusual transaction timing patterns that deviate from customer norms, identifying potential fraud through time-based irregularities.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3442291" y="2821082"/>
            <a:ext cx="2259419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Spending Category Variations</a:t>
            </a:r>
            <a:endParaRPr lang="en-US" sz="1440" dirty="0"/>
          </a:p>
        </p:txBody>
      </p:sp>
      <p:sp>
        <p:nvSpPr>
          <p:cNvPr id="17" name="Text 10"/>
          <p:cNvSpPr/>
          <p:nvPr/>
        </p:nvSpPr>
        <p:spPr>
          <a:xfrm>
            <a:off x="3582121" y="3190230"/>
            <a:ext cx="197975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Examination of transaction category patterns revealing fraud indicators when purchases suddenly appear in previously unused merchant categories.</a:t>
            </a:r>
            <a:endParaRPr lang="en-US" sz="1440" dirty="0"/>
          </a:p>
        </p:txBody>
      </p:sp>
      <p:sp>
        <p:nvSpPr>
          <p:cNvPr id="18" name="Text 11"/>
          <p:cNvSpPr/>
          <p:nvPr/>
        </p:nvSpPr>
        <p:spPr>
          <a:xfrm>
            <a:off x="6190439" y="2821082"/>
            <a:ext cx="2259419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Amount Threshold Analysis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6330269" y="3190230"/>
            <a:ext cx="197975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Identification of transaction amount patterns that trigger fraud alerts, with special attention to unusually large purchases or rapid successive transactions.</a:t>
            </a:r>
            <a:endParaRPr lang="en-US" sz="1440" dirty="0"/>
          </a:p>
        </p:txBody>
      </p:sp>
      <p:pic>
        <p:nvPicPr>
          <p:cNvPr id="22" name="Graphic 21" descr="Warning with solid fill">
            <a:extLst>
              <a:ext uri="{FF2B5EF4-FFF2-40B4-BE49-F238E27FC236}">
                <a16:creationId xmlns:a16="http://schemas.microsoft.com/office/drawing/2014/main" id="{2942E3A8-B347-198B-B3BF-978BDBB97F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6651" y="1657350"/>
            <a:ext cx="862226" cy="862226"/>
          </a:xfrm>
          <a:prstGeom prst="rect">
            <a:avLst/>
          </a:prstGeom>
        </p:spPr>
      </p:pic>
      <p:pic>
        <p:nvPicPr>
          <p:cNvPr id="24" name="Graphic 23" descr="Money outline">
            <a:extLst>
              <a:ext uri="{FF2B5EF4-FFF2-40B4-BE49-F238E27FC236}">
                <a16:creationId xmlns:a16="http://schemas.microsoft.com/office/drawing/2014/main" id="{7896FEE3-3A68-F4DA-5544-39F1CBC1DD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14800" y="1657350"/>
            <a:ext cx="862226" cy="862226"/>
          </a:xfrm>
          <a:prstGeom prst="rect">
            <a:avLst/>
          </a:prstGeom>
        </p:spPr>
      </p:pic>
      <p:pic>
        <p:nvPicPr>
          <p:cNvPr id="26" name="Graphic 25" descr="Periodic Graph outline">
            <a:extLst>
              <a:ext uri="{FF2B5EF4-FFF2-40B4-BE49-F238E27FC236}">
                <a16:creationId xmlns:a16="http://schemas.microsoft.com/office/drawing/2014/main" id="{6456FEB4-6BD9-4223-BC63-0CD079E244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62949" y="1709524"/>
            <a:ext cx="862226" cy="8622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8847" y="1164652"/>
            <a:ext cx="139678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32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576310" y="2417732"/>
            <a:ext cx="5415715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Implementation Considerations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Recall vs Precision Tradeoff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74" y="1029120"/>
            <a:ext cx="2448981" cy="65306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385" y="1366822"/>
            <a:ext cx="2630933" cy="30798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96703" y="3337102"/>
            <a:ext cx="754299" cy="10058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i="1" dirty="0">
                <a:solidFill>
                  <a:srgbClr val="FF9B01">
                    <a:alpha val="2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6" name="Shape 2"/>
          <p:cNvSpPr/>
          <p:nvPr/>
        </p:nvSpPr>
        <p:spPr>
          <a:xfrm>
            <a:off x="760497" y="4436996"/>
            <a:ext cx="1580293" cy="0"/>
          </a:xfrm>
          <a:custGeom>
            <a:avLst/>
            <a:gdLst/>
            <a:ahLst/>
            <a:cxnLst/>
            <a:rect l="l" t="t" r="r" b="b"/>
            <a:pathLst>
              <a:path w="1580293">
                <a:moveTo>
                  <a:pt x="0" y="0"/>
                </a:moveTo>
                <a:moveTo>
                  <a:pt x="0" y="0"/>
                </a:moveTo>
                <a:lnTo>
                  <a:pt x="1580293" y="0"/>
                </a:lnTo>
              </a:path>
            </a:pathLst>
          </a:custGeom>
          <a:noFill/>
          <a:ln w="40245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3"/>
          <p:cNvSpPr/>
          <p:nvPr/>
        </p:nvSpPr>
        <p:spPr>
          <a:xfrm>
            <a:off x="2583982" y="3376834"/>
            <a:ext cx="505627" cy="505627"/>
          </a:xfrm>
          <a:custGeom>
            <a:avLst/>
            <a:gdLst/>
            <a:ahLst/>
            <a:cxnLst/>
            <a:rect l="l" t="t" r="r" b="b"/>
            <a:pathLst>
              <a:path w="505627" h="505627">
                <a:moveTo>
                  <a:pt x="252813" y="0"/>
                </a:moveTo>
                <a:moveTo>
                  <a:pt x="252813" y="0"/>
                </a:moveTo>
                <a:cubicBezTo>
                  <a:pt x="392345" y="0"/>
                  <a:pt x="505627" y="113282"/>
                  <a:pt x="505627" y="252813"/>
                </a:cubicBezTo>
                <a:cubicBezTo>
                  <a:pt x="505627" y="392345"/>
                  <a:pt x="392345" y="505627"/>
                  <a:pt x="252813" y="505627"/>
                </a:cubicBezTo>
                <a:cubicBezTo>
                  <a:pt x="113282" y="505627"/>
                  <a:pt x="0" y="392345"/>
                  <a:pt x="0" y="252813"/>
                </a:cubicBezTo>
                <a:cubicBezTo>
                  <a:pt x="0" y="113282"/>
                  <a:pt x="113282" y="0"/>
                  <a:pt x="252813" y="0"/>
                </a:cubicBezTo>
                <a:close/>
              </a:path>
            </a:pathLst>
          </a:custGeom>
          <a:solidFill>
            <a:srgbClr val="FF9B01"/>
          </a:solidFill>
          <a:ln w="104775">
            <a:solidFill>
              <a:srgbClr val="FF9B01">
                <a:alpha val="14118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4086" y="3486938"/>
            <a:ext cx="285419" cy="28541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315" y="1029120"/>
            <a:ext cx="2448981" cy="653062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8726" y="1366822"/>
            <a:ext cx="2630933" cy="307983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197043" y="3337102"/>
            <a:ext cx="754299" cy="10058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i="1" dirty="0">
                <a:solidFill>
                  <a:srgbClr val="FF9B01">
                    <a:alpha val="2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2" name="Shape 5"/>
          <p:cNvSpPr/>
          <p:nvPr/>
        </p:nvSpPr>
        <p:spPr>
          <a:xfrm>
            <a:off x="3760838" y="4436996"/>
            <a:ext cx="1580293" cy="0"/>
          </a:xfrm>
          <a:custGeom>
            <a:avLst/>
            <a:gdLst/>
            <a:ahLst/>
            <a:cxnLst/>
            <a:rect l="l" t="t" r="r" b="b"/>
            <a:pathLst>
              <a:path w="1580293">
                <a:moveTo>
                  <a:pt x="0" y="0"/>
                </a:moveTo>
                <a:moveTo>
                  <a:pt x="0" y="0"/>
                </a:moveTo>
                <a:lnTo>
                  <a:pt x="1580293" y="0"/>
                </a:lnTo>
              </a:path>
            </a:pathLst>
          </a:custGeom>
          <a:noFill/>
          <a:ln w="40245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/>
          <p:cNvSpPr/>
          <p:nvPr/>
        </p:nvSpPr>
        <p:spPr>
          <a:xfrm>
            <a:off x="5574664" y="3376834"/>
            <a:ext cx="505627" cy="505627"/>
          </a:xfrm>
          <a:custGeom>
            <a:avLst/>
            <a:gdLst/>
            <a:ahLst/>
            <a:cxnLst/>
            <a:rect l="l" t="t" r="r" b="b"/>
            <a:pathLst>
              <a:path w="505627" h="505627">
                <a:moveTo>
                  <a:pt x="252813" y="0"/>
                </a:moveTo>
                <a:moveTo>
                  <a:pt x="252813" y="0"/>
                </a:moveTo>
                <a:cubicBezTo>
                  <a:pt x="392345" y="0"/>
                  <a:pt x="505627" y="113282"/>
                  <a:pt x="505627" y="252813"/>
                </a:cubicBezTo>
                <a:cubicBezTo>
                  <a:pt x="505627" y="392345"/>
                  <a:pt x="392345" y="505627"/>
                  <a:pt x="252813" y="505627"/>
                </a:cubicBezTo>
                <a:cubicBezTo>
                  <a:pt x="113282" y="505627"/>
                  <a:pt x="0" y="392345"/>
                  <a:pt x="0" y="252813"/>
                </a:cubicBezTo>
                <a:cubicBezTo>
                  <a:pt x="0" y="113282"/>
                  <a:pt x="113282" y="0"/>
                  <a:pt x="252813" y="0"/>
                </a:cubicBezTo>
                <a:close/>
              </a:path>
            </a:pathLst>
          </a:custGeom>
          <a:solidFill>
            <a:srgbClr val="FF9B01"/>
          </a:solidFill>
          <a:ln w="104775">
            <a:solidFill>
              <a:srgbClr val="FF9B01">
                <a:alpha val="14118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4767" y="3486938"/>
            <a:ext cx="285419" cy="28541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84894" y="1162473"/>
            <a:ext cx="1937800" cy="3766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Understanding the Trade-off Decision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405148" y="1682182"/>
            <a:ext cx="2337408" cy="1499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model prioritizes high fraud capture (Recall) at 95.4% over precision (16.3%), creating a strategic balance between fraud prevention and customer experience.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3585234" y="1162473"/>
            <a:ext cx="1927576" cy="39601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Impact Analysis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3405489" y="1682182"/>
            <a:ext cx="2337408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Higher recall reduces financial losses from fraud but increases manual review costs, while lower precision means more legitimate transactions require verification.</a:t>
            </a:r>
            <a:endParaRPr lang="en-US" sz="144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513" y="1029120"/>
            <a:ext cx="2448981" cy="65306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4" y="1366822"/>
            <a:ext cx="2630933" cy="307983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196241" y="3337102"/>
            <a:ext cx="754299" cy="10058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i="1" dirty="0">
                <a:solidFill>
                  <a:srgbClr val="FF9B01">
                    <a:alpha val="2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22" name="Shape 12"/>
          <p:cNvSpPr/>
          <p:nvPr/>
        </p:nvSpPr>
        <p:spPr>
          <a:xfrm>
            <a:off x="6760036" y="4436996"/>
            <a:ext cx="1580293" cy="0"/>
          </a:xfrm>
          <a:custGeom>
            <a:avLst/>
            <a:gdLst/>
            <a:ahLst/>
            <a:cxnLst/>
            <a:rect l="l" t="t" r="r" b="b"/>
            <a:pathLst>
              <a:path w="1580293">
                <a:moveTo>
                  <a:pt x="0" y="0"/>
                </a:moveTo>
                <a:moveTo>
                  <a:pt x="0" y="0"/>
                </a:moveTo>
                <a:lnTo>
                  <a:pt x="1580293" y="0"/>
                </a:lnTo>
              </a:path>
            </a:pathLst>
          </a:custGeom>
          <a:noFill/>
          <a:ln w="40245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3"/>
          <p:cNvSpPr/>
          <p:nvPr/>
        </p:nvSpPr>
        <p:spPr>
          <a:xfrm>
            <a:off x="6594657" y="1162473"/>
            <a:ext cx="1958247" cy="3766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Optimization Strategy</a:t>
            </a:r>
            <a:endParaRPr lang="en-US" sz="1440" dirty="0"/>
          </a:p>
        </p:txBody>
      </p:sp>
      <p:sp>
        <p:nvSpPr>
          <p:cNvPr id="24" name="Text 14"/>
          <p:cNvSpPr/>
          <p:nvPr/>
        </p:nvSpPr>
        <p:spPr>
          <a:xfrm>
            <a:off x="6404687" y="1682182"/>
            <a:ext cx="2337408" cy="1499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model refinement focuses on maintaining high recall while gradually improving precision through enhanced feature engineering and advanced detection algorithms.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 Efficiency Benefits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3437861" y="1585711"/>
            <a:ext cx="2278501" cy="3332358"/>
          </a:xfrm>
          <a:custGeom>
            <a:avLst/>
            <a:gdLst/>
            <a:ahLst/>
            <a:cxnLst/>
            <a:rect l="l" t="t" r="r" b="b"/>
            <a:pathLst>
              <a:path w="2278501" h="3332358">
                <a:moveTo>
                  <a:pt x="150174" y="0"/>
                </a:moveTo>
                <a:moveTo>
                  <a:pt x="150174" y="0"/>
                </a:moveTo>
                <a:lnTo>
                  <a:pt x="2128327" y="0"/>
                </a:lnTo>
                <a:quadBezTo>
                  <a:pt x="2278501" y="0"/>
                  <a:pt x="2278501" y="150174"/>
                </a:quadBezTo>
                <a:lnTo>
                  <a:pt x="2278501" y="3182184"/>
                </a:lnTo>
                <a:quadBezTo>
                  <a:pt x="2278501" y="3332358"/>
                  <a:pt x="2128327" y="3332358"/>
                </a:quadBezTo>
                <a:lnTo>
                  <a:pt x="150174" y="3332358"/>
                </a:lnTo>
                <a:quadBezTo>
                  <a:pt x="0" y="3332358"/>
                  <a:pt x="0" y="3182184"/>
                </a:quadBezTo>
                <a:lnTo>
                  <a:pt x="0" y="150174"/>
                </a:lnTo>
                <a:quadBezTo>
                  <a:pt x="0" y="0"/>
                  <a:pt x="150174" y="0"/>
                </a:quadBezTo>
                <a:close/>
              </a:path>
            </a:pathLst>
          </a:custGeom>
          <a:solidFill>
            <a:srgbClr val="FF9B01">
              <a:alpha val="3922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61826" y="1126445"/>
            <a:ext cx="8608283" cy="0"/>
          </a:xfrm>
          <a:custGeom>
            <a:avLst/>
            <a:gdLst/>
            <a:ahLst/>
            <a:cxnLst/>
            <a:rect l="l" t="t" r="r" b="b"/>
            <a:pathLst>
              <a:path w="8608283">
                <a:moveTo>
                  <a:pt x="0" y="0"/>
                </a:moveTo>
                <a:moveTo>
                  <a:pt x="0" y="0"/>
                </a:moveTo>
                <a:lnTo>
                  <a:pt x="8608283" y="0"/>
                </a:lnTo>
              </a:path>
            </a:pathLst>
          </a:custGeom>
          <a:noFill/>
          <a:ln w="9525">
            <a:solidFill>
              <a:srgbClr val="FF9B01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651809" y="103500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480560" y="103500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309311" y="103500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01393" y="1585711"/>
            <a:ext cx="2278501" cy="3332358"/>
          </a:xfrm>
          <a:custGeom>
            <a:avLst/>
            <a:gdLst/>
            <a:ahLst/>
            <a:cxnLst/>
            <a:rect l="l" t="t" r="r" b="b"/>
            <a:pathLst>
              <a:path w="2278501" h="3332358">
                <a:moveTo>
                  <a:pt x="150174" y="0"/>
                </a:moveTo>
                <a:moveTo>
                  <a:pt x="150174" y="0"/>
                </a:moveTo>
                <a:lnTo>
                  <a:pt x="2128327" y="0"/>
                </a:lnTo>
                <a:quadBezTo>
                  <a:pt x="2278501" y="0"/>
                  <a:pt x="2278501" y="150174"/>
                </a:quadBezTo>
                <a:lnTo>
                  <a:pt x="2278501" y="3182184"/>
                </a:lnTo>
                <a:quadBezTo>
                  <a:pt x="2278501" y="3332358"/>
                  <a:pt x="2128327" y="3332358"/>
                </a:quadBezTo>
                <a:lnTo>
                  <a:pt x="150174" y="3332358"/>
                </a:lnTo>
                <a:quadBezTo>
                  <a:pt x="0" y="3332358"/>
                  <a:pt x="0" y="3182184"/>
                </a:quadBezTo>
                <a:lnTo>
                  <a:pt x="0" y="150174"/>
                </a:lnTo>
                <a:quadBezTo>
                  <a:pt x="0" y="0"/>
                  <a:pt x="150174" y="0"/>
                </a:quadBezTo>
                <a:close/>
              </a:path>
            </a:pathLst>
          </a:custGeom>
          <a:solidFill>
            <a:srgbClr val="FF9B01">
              <a:alpha val="0"/>
            </a:srgbClr>
          </a:solidFill>
          <a:ln w="9525">
            <a:solidFill>
              <a:srgbClr val="FF9B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740643" y="1162323"/>
            <a:ext cx="0" cy="419168"/>
          </a:xfrm>
          <a:custGeom>
            <a:avLst/>
            <a:gdLst/>
            <a:ahLst/>
            <a:cxnLst/>
            <a:rect l="l" t="t" r="r" b="b"/>
            <a:pathLst>
              <a:path h="419168">
                <a:moveTo>
                  <a:pt x="0" y="419168"/>
                </a:moveTo>
                <a:moveTo>
                  <a:pt x="0" y="41916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499" y="1697720"/>
            <a:ext cx="368503" cy="368503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952" y="1744811"/>
            <a:ext cx="274320" cy="27432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749" y="1738078"/>
            <a:ext cx="287788" cy="2877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577112" y="1162323"/>
            <a:ext cx="0" cy="419168"/>
          </a:xfrm>
          <a:custGeom>
            <a:avLst/>
            <a:gdLst/>
            <a:ahLst/>
            <a:cxnLst/>
            <a:rect l="l" t="t" r="r" b="b"/>
            <a:pathLst>
              <a:path h="419168">
                <a:moveTo>
                  <a:pt x="0" y="419168"/>
                </a:moveTo>
                <a:moveTo>
                  <a:pt x="0" y="41916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9"/>
          <p:cNvSpPr/>
          <p:nvPr/>
        </p:nvSpPr>
        <p:spPr>
          <a:xfrm>
            <a:off x="6261500" y="1585711"/>
            <a:ext cx="2278501" cy="3332358"/>
          </a:xfrm>
          <a:custGeom>
            <a:avLst/>
            <a:gdLst/>
            <a:ahLst/>
            <a:cxnLst/>
            <a:rect l="l" t="t" r="r" b="b"/>
            <a:pathLst>
              <a:path w="2278501" h="3332358">
                <a:moveTo>
                  <a:pt x="150174" y="0"/>
                </a:moveTo>
                <a:moveTo>
                  <a:pt x="150174" y="0"/>
                </a:moveTo>
                <a:lnTo>
                  <a:pt x="2128327" y="0"/>
                </a:lnTo>
                <a:quadBezTo>
                  <a:pt x="2278501" y="0"/>
                  <a:pt x="2278501" y="150174"/>
                </a:quadBezTo>
                <a:lnTo>
                  <a:pt x="2278501" y="3182184"/>
                </a:lnTo>
                <a:quadBezTo>
                  <a:pt x="2278501" y="3332358"/>
                  <a:pt x="2128327" y="3332358"/>
                </a:quadBezTo>
                <a:lnTo>
                  <a:pt x="150174" y="3332358"/>
                </a:lnTo>
                <a:quadBezTo>
                  <a:pt x="0" y="3332358"/>
                  <a:pt x="0" y="3182184"/>
                </a:quadBezTo>
                <a:lnTo>
                  <a:pt x="0" y="150174"/>
                </a:lnTo>
                <a:quadBezTo>
                  <a:pt x="0" y="0"/>
                  <a:pt x="150174" y="0"/>
                </a:quadBezTo>
                <a:close/>
              </a:path>
            </a:pathLst>
          </a:custGeom>
          <a:solidFill>
            <a:srgbClr val="FF9B01">
              <a:alpha val="0"/>
            </a:srgbClr>
          </a:solidFill>
          <a:ln w="9525">
            <a:solidFill>
              <a:srgbClr val="FF9B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0"/>
          <p:cNvSpPr/>
          <p:nvPr/>
        </p:nvSpPr>
        <p:spPr>
          <a:xfrm>
            <a:off x="7400751" y="1162323"/>
            <a:ext cx="0" cy="419168"/>
          </a:xfrm>
          <a:custGeom>
            <a:avLst/>
            <a:gdLst/>
            <a:ahLst/>
            <a:cxnLst/>
            <a:rect l="l" t="t" r="r" b="b"/>
            <a:pathLst>
              <a:path h="419168">
                <a:moveTo>
                  <a:pt x="0" y="419168"/>
                </a:moveTo>
                <a:moveTo>
                  <a:pt x="0" y="41916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670208" y="2101380"/>
            <a:ext cx="2140870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Reduced Manual Review Time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670208" y="2452878"/>
            <a:ext cx="2140870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fraud detection significantly decreases time spent on manual transaction reviews, allowing staff to focus on complex cases requiring human judgment.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3506677" y="2101380"/>
            <a:ext cx="2140870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 Savings</a:t>
            </a:r>
            <a:endParaRPr lang="en-US" sz="1440" dirty="0"/>
          </a:p>
        </p:txBody>
      </p:sp>
      <p:sp>
        <p:nvSpPr>
          <p:cNvPr id="19" name="Text 14"/>
          <p:cNvSpPr/>
          <p:nvPr/>
        </p:nvSpPr>
        <p:spPr>
          <a:xfrm>
            <a:off x="3506677" y="2452878"/>
            <a:ext cx="2140870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system reduces operational costs by minimizing false positives and streamlining the investigation process, resulting in fewer resources needed for fraud management.</a:t>
            </a:r>
            <a:endParaRPr lang="en-US" sz="1440" dirty="0"/>
          </a:p>
        </p:txBody>
      </p:sp>
      <p:sp>
        <p:nvSpPr>
          <p:cNvPr id="20" name="Text 15"/>
          <p:cNvSpPr/>
          <p:nvPr/>
        </p:nvSpPr>
        <p:spPr>
          <a:xfrm>
            <a:off x="6330316" y="2101380"/>
            <a:ext cx="2140870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Decision Making</a:t>
            </a:r>
            <a:endParaRPr lang="en-US" sz="1440" dirty="0"/>
          </a:p>
        </p:txBody>
      </p:sp>
      <p:sp>
        <p:nvSpPr>
          <p:cNvPr id="21" name="Text 16"/>
          <p:cNvSpPr/>
          <p:nvPr/>
        </p:nvSpPr>
        <p:spPr>
          <a:xfrm>
            <a:off x="6330316" y="2452878"/>
            <a:ext cx="2140870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Near-instantaneous transaction assessment enables immediate fraud prevention decisions, protecting both customers and the financial institution without delaying legitimate transactions.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Transparent Decision-Making Framework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3214832" y="1031903"/>
            <a:ext cx="2714878" cy="3580076"/>
          </a:xfrm>
          <a:custGeom>
            <a:avLst/>
            <a:gdLst/>
            <a:ahLst/>
            <a:cxnLst/>
            <a:rect l="l" t="t" r="r" b="b"/>
            <a:pathLst>
              <a:path w="2714878" h="3580076">
                <a:moveTo>
                  <a:pt x="339360" y="0"/>
                </a:moveTo>
                <a:moveTo>
                  <a:pt x="339360" y="0"/>
                </a:moveTo>
                <a:lnTo>
                  <a:pt x="2375518" y="0"/>
                </a:lnTo>
                <a:quadBezTo>
                  <a:pt x="2714878" y="0"/>
                  <a:pt x="2714878" y="375280"/>
                </a:quadBezTo>
                <a:lnTo>
                  <a:pt x="2714878" y="3204797"/>
                </a:lnTo>
                <a:quadBezTo>
                  <a:pt x="2714878" y="3580076"/>
                  <a:pt x="2375518" y="3580076"/>
                </a:quadBezTo>
                <a:lnTo>
                  <a:pt x="339360" y="3580076"/>
                </a:lnTo>
                <a:quadBezTo>
                  <a:pt x="0" y="3580076"/>
                  <a:pt x="0" y="3204797"/>
                </a:quadBezTo>
                <a:lnTo>
                  <a:pt x="0" y="375280"/>
                </a:lnTo>
                <a:quadBezTo>
                  <a:pt x="0" y="0"/>
                  <a:pt x="339360" y="0"/>
                </a:quadBezTo>
                <a:close/>
              </a:path>
            </a:pathLst>
          </a:custGeom>
          <a:solidFill>
            <a:srgbClr val="FF7E0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978" y="1724153"/>
            <a:ext cx="2432585" cy="27459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581655" y="2462576"/>
            <a:ext cx="1890088" cy="0"/>
          </a:xfrm>
          <a:custGeom>
            <a:avLst/>
            <a:gdLst/>
            <a:ahLst/>
            <a:cxnLst/>
            <a:rect l="l" t="t" r="r" b="b"/>
            <a:pathLst>
              <a:path w="1890088">
                <a:moveTo>
                  <a:pt x="0" y="0"/>
                </a:moveTo>
                <a:moveTo>
                  <a:pt x="0" y="0"/>
                </a:moveTo>
                <a:lnTo>
                  <a:pt x="1890088" y="0"/>
                </a:lnTo>
              </a:path>
            </a:pathLst>
          </a:custGeom>
          <a:noFill/>
          <a:ln w="9674">
            <a:solidFill>
              <a:srgbClr val="FF7E01">
                <a:alpha val="58824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3520816" y="2462576"/>
            <a:ext cx="805245" cy="0"/>
          </a:xfrm>
          <a:custGeom>
            <a:avLst/>
            <a:gdLst/>
            <a:ahLst/>
            <a:cxnLst/>
            <a:rect l="l" t="t" r="r" b="b"/>
            <a:pathLst>
              <a:path w="805245">
                <a:moveTo>
                  <a:pt x="0" y="0"/>
                </a:moveTo>
                <a:moveTo>
                  <a:pt x="0" y="0"/>
                </a:moveTo>
                <a:lnTo>
                  <a:pt x="805245" y="0"/>
                </a:lnTo>
              </a:path>
            </a:pathLst>
          </a:custGeom>
          <a:noFill/>
          <a:ln w="38697">
            <a:solidFill>
              <a:srgbClr val="FF7E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202370" y="3683351"/>
            <a:ext cx="739802" cy="8686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600" b="1" i="1" dirty="0">
                <a:solidFill>
                  <a:srgbClr val="FF7E01">
                    <a:alpha val="4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8" name="Shape 5"/>
          <p:cNvSpPr/>
          <p:nvPr/>
        </p:nvSpPr>
        <p:spPr>
          <a:xfrm>
            <a:off x="267569" y="1031903"/>
            <a:ext cx="2714878" cy="3580076"/>
          </a:xfrm>
          <a:custGeom>
            <a:avLst/>
            <a:gdLst/>
            <a:ahLst/>
            <a:cxnLst/>
            <a:rect l="l" t="t" r="r" b="b"/>
            <a:pathLst>
              <a:path w="2714878" h="3580076">
                <a:moveTo>
                  <a:pt x="339360" y="0"/>
                </a:moveTo>
                <a:moveTo>
                  <a:pt x="339360" y="0"/>
                </a:moveTo>
                <a:lnTo>
                  <a:pt x="2375518" y="0"/>
                </a:lnTo>
                <a:quadBezTo>
                  <a:pt x="2714878" y="0"/>
                  <a:pt x="2714878" y="375280"/>
                </a:quadBezTo>
                <a:lnTo>
                  <a:pt x="2714878" y="3204797"/>
                </a:lnTo>
                <a:quadBezTo>
                  <a:pt x="2714878" y="3580076"/>
                  <a:pt x="2375518" y="3580076"/>
                </a:quadBezTo>
                <a:lnTo>
                  <a:pt x="339360" y="3580076"/>
                </a:lnTo>
                <a:quadBezTo>
                  <a:pt x="0" y="3580076"/>
                  <a:pt x="0" y="3204797"/>
                </a:quadBezTo>
                <a:lnTo>
                  <a:pt x="0" y="375280"/>
                </a:lnTo>
                <a:quadBezTo>
                  <a:pt x="0" y="0"/>
                  <a:pt x="339360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16" y="1724153"/>
            <a:ext cx="2432585" cy="27459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4393" y="2462576"/>
            <a:ext cx="1890088" cy="0"/>
          </a:xfrm>
          <a:custGeom>
            <a:avLst/>
            <a:gdLst/>
            <a:ahLst/>
            <a:cxnLst/>
            <a:rect l="l" t="t" r="r" b="b"/>
            <a:pathLst>
              <a:path w="1890088">
                <a:moveTo>
                  <a:pt x="0" y="0"/>
                </a:moveTo>
                <a:moveTo>
                  <a:pt x="0" y="0"/>
                </a:moveTo>
                <a:lnTo>
                  <a:pt x="1890088" y="0"/>
                </a:lnTo>
              </a:path>
            </a:pathLst>
          </a:custGeom>
          <a:noFill/>
          <a:ln w="9674">
            <a:solidFill>
              <a:srgbClr val="FF9B01">
                <a:alpha val="58824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7"/>
          <p:cNvSpPr/>
          <p:nvPr/>
        </p:nvSpPr>
        <p:spPr>
          <a:xfrm>
            <a:off x="573553" y="2462576"/>
            <a:ext cx="805245" cy="0"/>
          </a:xfrm>
          <a:custGeom>
            <a:avLst/>
            <a:gdLst/>
            <a:ahLst/>
            <a:cxnLst/>
            <a:rect l="l" t="t" r="r" b="b"/>
            <a:pathLst>
              <a:path w="805245">
                <a:moveTo>
                  <a:pt x="0" y="0"/>
                </a:moveTo>
                <a:moveTo>
                  <a:pt x="0" y="0"/>
                </a:moveTo>
                <a:lnTo>
                  <a:pt x="805245" y="0"/>
                </a:lnTo>
              </a:path>
            </a:pathLst>
          </a:custGeom>
          <a:noFill/>
          <a:ln w="38697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1255107" y="3683351"/>
            <a:ext cx="739802" cy="8686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600" b="1" i="1" dirty="0">
                <a:solidFill>
                  <a:srgbClr val="FF9B01">
                    <a:alpha val="4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399" y="1243397"/>
            <a:ext cx="427220" cy="4272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967" y="1826589"/>
            <a:ext cx="2351334" cy="38078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 Importance Visualization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517474" y="2542092"/>
            <a:ext cx="221506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representations highlight which transaction attributes most influence fraud determinations, with transaction amount and category emerging as primary indicators.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3437229" y="1826589"/>
            <a:ext cx="2351334" cy="35292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Explainable AI Components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3437229" y="2542092"/>
            <a:ext cx="2215068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system incorporates SHAP values and feature attribution techniques to provide clear justification for each flagged transaction.</a:t>
            </a:r>
            <a:endParaRPr lang="en-US" sz="144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49" y="1242324"/>
            <a:ext cx="508443" cy="508443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161553" y="1031903"/>
            <a:ext cx="2714878" cy="3580076"/>
          </a:xfrm>
          <a:custGeom>
            <a:avLst/>
            <a:gdLst/>
            <a:ahLst/>
            <a:cxnLst/>
            <a:rect l="l" t="t" r="r" b="b"/>
            <a:pathLst>
              <a:path w="2714878" h="3580076">
                <a:moveTo>
                  <a:pt x="339360" y="0"/>
                </a:moveTo>
                <a:moveTo>
                  <a:pt x="339360" y="0"/>
                </a:moveTo>
                <a:lnTo>
                  <a:pt x="2375518" y="0"/>
                </a:lnTo>
                <a:quadBezTo>
                  <a:pt x="2714878" y="0"/>
                  <a:pt x="2714878" y="375280"/>
                </a:quadBezTo>
                <a:lnTo>
                  <a:pt x="2714878" y="3204797"/>
                </a:lnTo>
                <a:quadBezTo>
                  <a:pt x="2714878" y="3580076"/>
                  <a:pt x="2375518" y="3580076"/>
                </a:quadBezTo>
                <a:lnTo>
                  <a:pt x="339360" y="3580076"/>
                </a:lnTo>
                <a:quadBezTo>
                  <a:pt x="0" y="3580076"/>
                  <a:pt x="0" y="3204797"/>
                </a:quadBezTo>
                <a:lnTo>
                  <a:pt x="0" y="375280"/>
                </a:lnTo>
                <a:quadBezTo>
                  <a:pt x="0" y="0"/>
                  <a:pt x="339360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699" y="1724153"/>
            <a:ext cx="2432585" cy="274598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528376" y="2462576"/>
            <a:ext cx="1890088" cy="0"/>
          </a:xfrm>
          <a:custGeom>
            <a:avLst/>
            <a:gdLst/>
            <a:ahLst/>
            <a:cxnLst/>
            <a:rect l="l" t="t" r="r" b="b"/>
            <a:pathLst>
              <a:path w="1890088">
                <a:moveTo>
                  <a:pt x="0" y="0"/>
                </a:moveTo>
                <a:moveTo>
                  <a:pt x="0" y="0"/>
                </a:moveTo>
                <a:lnTo>
                  <a:pt x="1890088" y="0"/>
                </a:lnTo>
              </a:path>
            </a:pathLst>
          </a:custGeom>
          <a:noFill/>
          <a:ln w="9674">
            <a:solidFill>
              <a:srgbClr val="FF9B01">
                <a:alpha val="58824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5"/>
          <p:cNvSpPr/>
          <p:nvPr/>
        </p:nvSpPr>
        <p:spPr>
          <a:xfrm>
            <a:off x="6467537" y="2462576"/>
            <a:ext cx="805245" cy="0"/>
          </a:xfrm>
          <a:custGeom>
            <a:avLst/>
            <a:gdLst/>
            <a:ahLst/>
            <a:cxnLst/>
            <a:rect l="l" t="t" r="r" b="b"/>
            <a:pathLst>
              <a:path w="805245">
                <a:moveTo>
                  <a:pt x="0" y="0"/>
                </a:moveTo>
                <a:moveTo>
                  <a:pt x="0" y="0"/>
                </a:moveTo>
                <a:lnTo>
                  <a:pt x="805245" y="0"/>
                </a:lnTo>
              </a:path>
            </a:pathLst>
          </a:custGeom>
          <a:noFill/>
          <a:ln w="38697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6"/>
          <p:cNvSpPr/>
          <p:nvPr/>
        </p:nvSpPr>
        <p:spPr>
          <a:xfrm>
            <a:off x="7149091" y="3683351"/>
            <a:ext cx="739802" cy="8686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600" b="1" i="1" dirty="0">
                <a:solidFill>
                  <a:srgbClr val="FF9B01">
                    <a:alpha val="4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24" name="Text 17"/>
          <p:cNvSpPr/>
          <p:nvPr/>
        </p:nvSpPr>
        <p:spPr>
          <a:xfrm>
            <a:off x="6383950" y="1826589"/>
            <a:ext cx="2351334" cy="35292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Decision Audit Trail</a:t>
            </a:r>
            <a:endParaRPr lang="en-US" sz="1440" dirty="0"/>
          </a:p>
        </p:txBody>
      </p:sp>
      <p:sp>
        <p:nvSpPr>
          <p:cNvPr id="25" name="Text 18"/>
          <p:cNvSpPr/>
          <p:nvPr/>
        </p:nvSpPr>
        <p:spPr>
          <a:xfrm>
            <a:off x="6383950" y="2542092"/>
            <a:ext cx="2215068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fraud determination includes a comprehensive log of contributing factors, allowing for regulatory compliance and customer dispute resolution.</a:t>
            </a:r>
            <a:endParaRPr lang="en-US" sz="144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6495" y="1271259"/>
            <a:ext cx="364994" cy="3649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4056" y="1902833"/>
            <a:ext cx="3275888" cy="8229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0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Thanks！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789</Words>
  <Application>Microsoft Office PowerPoint</Application>
  <PresentationFormat>On-screen Show (16:9)</PresentationFormat>
  <Paragraphs>111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Roynel Cura</cp:lastModifiedBy>
  <cp:revision>2</cp:revision>
  <dcterms:created xsi:type="dcterms:W3CDTF">2026-01-03T06:49:21Z</dcterms:created>
  <dcterms:modified xsi:type="dcterms:W3CDTF">2026-01-03T13:48:17Z</dcterms:modified>
</cp:coreProperties>
</file>