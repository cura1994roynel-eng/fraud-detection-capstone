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819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9695" y="2701138"/>
            <a:ext cx="4724705" cy="527609"/>
          </a:xfrm>
          <a:custGeom>
            <a:avLst/>
            <a:gdLst/>
            <a:ahLst/>
            <a:cxnLst/>
            <a:rect l="l" t="t" r="r" b="b"/>
            <a:pathLst>
              <a:path w="4724705" h="527609">
                <a:moveTo>
                  <a:pt x="65951" y="0"/>
                </a:moveTo>
                <a:moveTo>
                  <a:pt x="65951" y="0"/>
                </a:moveTo>
                <a:lnTo>
                  <a:pt x="4658754" y="0"/>
                </a:lnTo>
                <a:quadBezTo>
                  <a:pt x="4724705" y="0"/>
                  <a:pt x="4724705" y="65951"/>
                </a:quadBezTo>
                <a:lnTo>
                  <a:pt x="4724705" y="461658"/>
                </a:lnTo>
                <a:quadBezTo>
                  <a:pt x="4724705" y="527609"/>
                  <a:pt x="4658754" y="527609"/>
                </a:quadBezTo>
                <a:lnTo>
                  <a:pt x="65951" y="527609"/>
                </a:lnTo>
                <a:quadBezTo>
                  <a:pt x="0" y="527609"/>
                  <a:pt x="0" y="461658"/>
                </a:quadBezTo>
                <a:lnTo>
                  <a:pt x="0" y="65951"/>
                </a:lnTo>
                <a:quadBezTo>
                  <a:pt x="0" y="0"/>
                  <a:pt x="65951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8066" y="1606529"/>
            <a:ext cx="6687963" cy="10332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68" b="1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Detection Through Machine Learning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2149695" y="2754630"/>
            <a:ext cx="4724705" cy="4206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Driven Financial Security Solutions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3658118" y="3348627"/>
            <a:ext cx="1707859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Roynel Cura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4371" y="680974"/>
            <a:ext cx="3275258" cy="8961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74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959380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Credit Card Fraud Detection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854224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973096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Processing Methodology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854224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664383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Implementation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545511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Credit Card Fraud Detection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Supervised Binary Classification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32009" y="3691236"/>
            <a:ext cx="2586574" cy="0"/>
          </a:xfrm>
          <a:custGeom>
            <a:avLst/>
            <a:gdLst/>
            <a:ahLst/>
            <a:cxnLst/>
            <a:rect l="l" t="t" r="r" b="b"/>
            <a:pathLst>
              <a:path w="2586574">
                <a:moveTo>
                  <a:pt x="0" y="0"/>
                </a:moveTo>
                <a:moveTo>
                  <a:pt x="0" y="0"/>
                </a:moveTo>
                <a:lnTo>
                  <a:pt x="2586574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32009" y="1076586"/>
            <a:ext cx="429392" cy="306708"/>
          </a:xfrm>
          <a:custGeom>
            <a:avLst/>
            <a:gdLst/>
            <a:ahLst/>
            <a:cxnLst/>
            <a:rect l="l" t="t" r="r" b="b"/>
            <a:pathLst>
              <a:path w="429392" h="306708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  <a:lnTo>
                  <a:pt x="429392" y="306708"/>
                </a:lnTo>
                <a:lnTo>
                  <a:pt x="0" y="30670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32009" y="987624"/>
            <a:ext cx="62465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3278713" y="3691236"/>
            <a:ext cx="2586574" cy="0"/>
          </a:xfrm>
          <a:custGeom>
            <a:avLst/>
            <a:gdLst/>
            <a:ahLst/>
            <a:cxnLst/>
            <a:rect l="l" t="t" r="r" b="b"/>
            <a:pathLst>
              <a:path w="2586574">
                <a:moveTo>
                  <a:pt x="0" y="0"/>
                </a:moveTo>
                <a:moveTo>
                  <a:pt x="0" y="0"/>
                </a:moveTo>
                <a:lnTo>
                  <a:pt x="2586574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78713" y="1076586"/>
            <a:ext cx="429392" cy="306708"/>
          </a:xfrm>
          <a:custGeom>
            <a:avLst/>
            <a:gdLst/>
            <a:ahLst/>
            <a:cxnLst/>
            <a:rect l="l" t="t" r="r" b="b"/>
            <a:pathLst>
              <a:path w="429392" h="306708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  <a:lnTo>
                  <a:pt x="429392" y="306708"/>
                </a:lnTo>
                <a:lnTo>
                  <a:pt x="0" y="30670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78713" y="987624"/>
            <a:ext cx="62465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6125417" y="3691236"/>
            <a:ext cx="2586574" cy="0"/>
          </a:xfrm>
          <a:custGeom>
            <a:avLst/>
            <a:gdLst/>
            <a:ahLst/>
            <a:cxnLst/>
            <a:rect l="l" t="t" r="r" b="b"/>
            <a:pathLst>
              <a:path w="2586574">
                <a:moveTo>
                  <a:pt x="0" y="0"/>
                </a:moveTo>
                <a:moveTo>
                  <a:pt x="0" y="0"/>
                </a:moveTo>
                <a:lnTo>
                  <a:pt x="2586574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125417" y="1076586"/>
            <a:ext cx="429392" cy="306708"/>
          </a:xfrm>
          <a:custGeom>
            <a:avLst/>
            <a:gdLst/>
            <a:ahLst/>
            <a:cxnLst/>
            <a:rect l="l" t="t" r="r" b="b"/>
            <a:pathLst>
              <a:path w="429392" h="306708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  <a:lnTo>
                  <a:pt x="429392" y="306708"/>
                </a:lnTo>
                <a:lnTo>
                  <a:pt x="0" y="30670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25417" y="987624"/>
            <a:ext cx="62465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32009" y="3196052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Binary Classification Fundamentals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432009" y="3697779"/>
            <a:ext cx="2358031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machine learning task where the model predicts one of two possible outcomes, such as fraud/legitimate, spam/not spam, or positive/negative.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278713" y="3196052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Handling Class Imbalance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3278713" y="3697779"/>
            <a:ext cx="2358031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Techniques to address skewed data distribution where one class (legitimate transactions) significantly outnumbers the other class (fraudulent transactions).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6125417" y="3196052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6125417" y="3697779"/>
            <a:ext cx="2358031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Specialized evaluation measures like precision, recall, F1-score and AUC-ROC that better assess classification effectiveness with imbalanced fraud data.</a:t>
            </a:r>
            <a:endParaRPr lang="en-US" sz="1440" dirty="0"/>
          </a:p>
        </p:txBody>
      </p:sp>
      <p:pic>
        <p:nvPicPr>
          <p:cNvPr id="24" name="Graphic 23" descr="Binary with solid fill">
            <a:extLst>
              <a:ext uri="{FF2B5EF4-FFF2-40B4-BE49-F238E27FC236}">
                <a16:creationId xmlns:a16="http://schemas.microsoft.com/office/drawing/2014/main" id="{9A80BFE4-98F4-7437-1C79-868E18D2C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043" y="1394312"/>
            <a:ext cx="1801740" cy="1801740"/>
          </a:xfrm>
          <a:prstGeom prst="rect">
            <a:avLst/>
          </a:prstGeom>
        </p:spPr>
      </p:pic>
      <p:pic>
        <p:nvPicPr>
          <p:cNvPr id="26" name="Graphic 25" descr="Bar chart with solid fill">
            <a:extLst>
              <a:ext uri="{FF2B5EF4-FFF2-40B4-BE49-F238E27FC236}">
                <a16:creationId xmlns:a16="http://schemas.microsoft.com/office/drawing/2014/main" id="{090C15F4-94D2-1D08-F562-7CCE5F4E04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8795" y="1558160"/>
            <a:ext cx="1631350" cy="1631350"/>
          </a:xfrm>
          <a:prstGeom prst="rect">
            <a:avLst/>
          </a:prstGeom>
        </p:spPr>
      </p:pic>
      <p:pic>
        <p:nvPicPr>
          <p:cNvPr id="28" name="Graphic 27" descr="Key outline">
            <a:extLst>
              <a:ext uri="{FF2B5EF4-FFF2-40B4-BE49-F238E27FC236}">
                <a16:creationId xmlns:a16="http://schemas.microsoft.com/office/drawing/2014/main" id="{DF2C661A-EAF1-ED26-B07B-20ACA4F577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0113" y="1690013"/>
            <a:ext cx="1444509" cy="14445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Extreme Class Imbalance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82" y="968786"/>
            <a:ext cx="2624921" cy="37394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8017" y="190666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317">
            <a:solidFill>
              <a:srgbClr val="F4F7FF">
                <a:alpha val="4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1243339" y="3640400"/>
            <a:ext cx="763208" cy="763208"/>
          </a:xfrm>
          <a:custGeom>
            <a:avLst/>
            <a:gdLst/>
            <a:ahLst/>
            <a:cxnLst/>
            <a:rect l="l" t="t" r="r" b="b"/>
            <a:pathLst>
              <a:path w="763208" h="763208">
                <a:moveTo>
                  <a:pt x="381604" y="0"/>
                </a:moveTo>
                <a:moveTo>
                  <a:pt x="381604" y="0"/>
                </a:moveTo>
                <a:cubicBezTo>
                  <a:pt x="592217" y="0"/>
                  <a:pt x="763208" y="170991"/>
                  <a:pt x="763208" y="381604"/>
                </a:cubicBezTo>
                <a:cubicBezTo>
                  <a:pt x="763208" y="592217"/>
                  <a:pt x="592217" y="763208"/>
                  <a:pt x="381604" y="763208"/>
                </a:cubicBezTo>
                <a:cubicBezTo>
                  <a:pt x="170991" y="763208"/>
                  <a:pt x="0" y="592217"/>
                  <a:pt x="0" y="381604"/>
                </a:cubicBezTo>
                <a:cubicBezTo>
                  <a:pt x="0" y="170991"/>
                  <a:pt x="170991" y="0"/>
                  <a:pt x="381604" y="0"/>
                </a:cubicBezTo>
                <a:close/>
              </a:path>
            </a:pathLst>
          </a:custGeom>
          <a:solidFill>
            <a:srgbClr val="F4F7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141" y="3828202"/>
            <a:ext cx="387604" cy="3876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6921" y="1370658"/>
            <a:ext cx="2476043" cy="40609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 Distribution Analysis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470182" y="1990650"/>
            <a:ext cx="230952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represents only 0.57% of transactions, creating significant challenges for model training and evaluation metrics.</a:t>
            </a:r>
            <a:endParaRPr lang="en-US" sz="144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622" y="968786"/>
            <a:ext cx="2624757" cy="37390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895074" y="190666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317">
            <a:solidFill>
              <a:srgbClr val="FF9B01">
                <a:alpha val="4902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6"/>
          <p:cNvSpPr/>
          <p:nvPr/>
        </p:nvSpPr>
        <p:spPr>
          <a:xfrm>
            <a:off x="4190396" y="3640400"/>
            <a:ext cx="763208" cy="763208"/>
          </a:xfrm>
          <a:custGeom>
            <a:avLst/>
            <a:gdLst/>
            <a:ahLst/>
            <a:cxnLst/>
            <a:rect l="l" t="t" r="r" b="b"/>
            <a:pathLst>
              <a:path w="763208" h="763208">
                <a:moveTo>
                  <a:pt x="381604" y="0"/>
                </a:moveTo>
                <a:moveTo>
                  <a:pt x="381604" y="0"/>
                </a:moveTo>
                <a:cubicBezTo>
                  <a:pt x="592217" y="0"/>
                  <a:pt x="763208" y="170991"/>
                  <a:pt x="763208" y="381604"/>
                </a:cubicBezTo>
                <a:cubicBezTo>
                  <a:pt x="763208" y="592217"/>
                  <a:pt x="592217" y="763208"/>
                  <a:pt x="381604" y="763208"/>
                </a:cubicBezTo>
                <a:cubicBezTo>
                  <a:pt x="170991" y="763208"/>
                  <a:pt x="0" y="592217"/>
                  <a:pt x="0" y="381604"/>
                </a:cubicBezTo>
                <a:cubicBezTo>
                  <a:pt x="0" y="170991"/>
                  <a:pt x="170991" y="0"/>
                  <a:pt x="381604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3429" y="3873433"/>
            <a:ext cx="297142" cy="2971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33143" y="1370658"/>
            <a:ext cx="2477713" cy="40609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Handling Imbalanced Data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3417107" y="1990650"/>
            <a:ext cx="230978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Techniques like SMOTE, undersampling, and class weighting help balance the dataset for improved fraud detection performance.</a:t>
            </a:r>
            <a:endParaRPr lang="en-US" sz="144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761" y="968786"/>
            <a:ext cx="2624757" cy="373904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42213" y="190666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317">
            <a:solidFill>
              <a:srgbClr val="F4F7FF">
                <a:alpha val="4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0"/>
          <p:cNvSpPr/>
          <p:nvPr/>
        </p:nvSpPr>
        <p:spPr>
          <a:xfrm>
            <a:off x="7137535" y="3640400"/>
            <a:ext cx="763208" cy="763208"/>
          </a:xfrm>
          <a:custGeom>
            <a:avLst/>
            <a:gdLst/>
            <a:ahLst/>
            <a:cxnLst/>
            <a:rect l="l" t="t" r="r" b="b"/>
            <a:pathLst>
              <a:path w="763208" h="763208">
                <a:moveTo>
                  <a:pt x="381604" y="0"/>
                </a:moveTo>
                <a:moveTo>
                  <a:pt x="381604" y="0"/>
                </a:moveTo>
                <a:cubicBezTo>
                  <a:pt x="592217" y="0"/>
                  <a:pt x="763208" y="170991"/>
                  <a:pt x="763208" y="381604"/>
                </a:cubicBezTo>
                <a:cubicBezTo>
                  <a:pt x="763208" y="592217"/>
                  <a:pt x="592217" y="763208"/>
                  <a:pt x="381604" y="763208"/>
                </a:cubicBezTo>
                <a:cubicBezTo>
                  <a:pt x="170991" y="763208"/>
                  <a:pt x="0" y="592217"/>
                  <a:pt x="0" y="381604"/>
                </a:cubicBezTo>
                <a:cubicBezTo>
                  <a:pt x="0" y="170991"/>
                  <a:pt x="170991" y="0"/>
                  <a:pt x="381604" y="0"/>
                </a:cubicBezTo>
                <a:close/>
              </a:path>
            </a:pathLst>
          </a:custGeom>
          <a:solidFill>
            <a:srgbClr val="F4F7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6283" y="3804100"/>
            <a:ext cx="445713" cy="4358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75061" y="1370658"/>
            <a:ext cx="2488158" cy="40609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 on Model Performance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6364247" y="1990650"/>
            <a:ext cx="230978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Imbalance causes models to favor majority class, requiring specialized evaluation metrics like precision-recall AUC rather than accuracy.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Impact Assessment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74" y="1029120"/>
            <a:ext cx="2448981" cy="65306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85" y="1366822"/>
            <a:ext cx="2630933" cy="30798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6703" y="3337102"/>
            <a:ext cx="754299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Shape 2"/>
          <p:cNvSpPr/>
          <p:nvPr/>
        </p:nvSpPr>
        <p:spPr>
          <a:xfrm>
            <a:off x="760497" y="4436996"/>
            <a:ext cx="1580293" cy="0"/>
          </a:xfrm>
          <a:custGeom>
            <a:avLst/>
            <a:gdLst/>
            <a:ahLst/>
            <a:cxnLst/>
            <a:rect l="l" t="t" r="r" b="b"/>
            <a:pathLst>
              <a:path w="1580293">
                <a:moveTo>
                  <a:pt x="0" y="0"/>
                </a:moveTo>
                <a:moveTo>
                  <a:pt x="0" y="0"/>
                </a:moveTo>
                <a:lnTo>
                  <a:pt x="1580293" y="0"/>
                </a:lnTo>
              </a:path>
            </a:pathLst>
          </a:custGeom>
          <a:noFill/>
          <a:ln w="4024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3"/>
          <p:cNvSpPr/>
          <p:nvPr/>
        </p:nvSpPr>
        <p:spPr>
          <a:xfrm>
            <a:off x="2583982" y="3376834"/>
            <a:ext cx="505627" cy="505627"/>
          </a:xfrm>
          <a:custGeom>
            <a:avLst/>
            <a:gdLst/>
            <a:ahLst/>
            <a:cxnLst/>
            <a:rect l="l" t="t" r="r" b="b"/>
            <a:pathLst>
              <a:path w="505627" h="505627">
                <a:moveTo>
                  <a:pt x="252813" y="0"/>
                </a:moveTo>
                <a:moveTo>
                  <a:pt x="252813" y="0"/>
                </a:moveTo>
                <a:cubicBezTo>
                  <a:pt x="392345" y="0"/>
                  <a:pt x="505627" y="113282"/>
                  <a:pt x="505627" y="252813"/>
                </a:cubicBezTo>
                <a:cubicBezTo>
                  <a:pt x="505627" y="392345"/>
                  <a:pt x="392345" y="505627"/>
                  <a:pt x="252813" y="505627"/>
                </a:cubicBezTo>
                <a:cubicBezTo>
                  <a:pt x="113282" y="505627"/>
                  <a:pt x="0" y="392345"/>
                  <a:pt x="0" y="252813"/>
                </a:cubicBezTo>
                <a:cubicBezTo>
                  <a:pt x="0" y="113282"/>
                  <a:pt x="113282" y="0"/>
                  <a:pt x="252813" y="0"/>
                </a:cubicBezTo>
                <a:close/>
              </a:path>
            </a:pathLst>
          </a:custGeom>
          <a:solidFill>
            <a:srgbClr val="FF9B01"/>
          </a:solidFill>
          <a:ln w="104775">
            <a:solidFill>
              <a:srgbClr val="FF9B01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4086" y="3486938"/>
            <a:ext cx="285419" cy="28541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315" y="1029120"/>
            <a:ext cx="2448981" cy="653062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726" y="1366822"/>
            <a:ext cx="2630933" cy="30798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197043" y="3337102"/>
            <a:ext cx="754299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2" name="Shape 5"/>
          <p:cNvSpPr/>
          <p:nvPr/>
        </p:nvSpPr>
        <p:spPr>
          <a:xfrm>
            <a:off x="3760838" y="4436996"/>
            <a:ext cx="1580293" cy="0"/>
          </a:xfrm>
          <a:custGeom>
            <a:avLst/>
            <a:gdLst/>
            <a:ahLst/>
            <a:cxnLst/>
            <a:rect l="l" t="t" r="r" b="b"/>
            <a:pathLst>
              <a:path w="1580293">
                <a:moveTo>
                  <a:pt x="0" y="0"/>
                </a:moveTo>
                <a:moveTo>
                  <a:pt x="0" y="0"/>
                </a:moveTo>
                <a:lnTo>
                  <a:pt x="1580293" y="0"/>
                </a:lnTo>
              </a:path>
            </a:pathLst>
          </a:custGeom>
          <a:noFill/>
          <a:ln w="4024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/>
          <p:cNvSpPr/>
          <p:nvPr/>
        </p:nvSpPr>
        <p:spPr>
          <a:xfrm>
            <a:off x="5574664" y="3376834"/>
            <a:ext cx="505627" cy="505627"/>
          </a:xfrm>
          <a:custGeom>
            <a:avLst/>
            <a:gdLst/>
            <a:ahLst/>
            <a:cxnLst/>
            <a:rect l="l" t="t" r="r" b="b"/>
            <a:pathLst>
              <a:path w="505627" h="505627">
                <a:moveTo>
                  <a:pt x="252813" y="0"/>
                </a:moveTo>
                <a:moveTo>
                  <a:pt x="252813" y="0"/>
                </a:moveTo>
                <a:cubicBezTo>
                  <a:pt x="392345" y="0"/>
                  <a:pt x="505627" y="113282"/>
                  <a:pt x="505627" y="252813"/>
                </a:cubicBezTo>
                <a:cubicBezTo>
                  <a:pt x="505627" y="392345"/>
                  <a:pt x="392345" y="505627"/>
                  <a:pt x="252813" y="505627"/>
                </a:cubicBezTo>
                <a:cubicBezTo>
                  <a:pt x="113282" y="505627"/>
                  <a:pt x="0" y="392345"/>
                  <a:pt x="0" y="252813"/>
                </a:cubicBezTo>
                <a:cubicBezTo>
                  <a:pt x="0" y="113282"/>
                  <a:pt x="113282" y="0"/>
                  <a:pt x="252813" y="0"/>
                </a:cubicBezTo>
                <a:close/>
              </a:path>
            </a:pathLst>
          </a:custGeom>
          <a:solidFill>
            <a:srgbClr val="FF9B01"/>
          </a:solidFill>
          <a:ln w="104775">
            <a:solidFill>
              <a:srgbClr val="FF9B01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767" y="3486938"/>
            <a:ext cx="285419" cy="28541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84894" y="1162473"/>
            <a:ext cx="1937800" cy="3766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Financial Impact of Fraud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05148" y="1682182"/>
            <a:ext cx="233740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Quantifying annual losses from credit card fraud, estimated at $28.6 billion globally, with projected growth trends affecting institutional profitability.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585234" y="1162473"/>
            <a:ext cx="1927576" cy="39601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Trust Erosion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3405489" y="1682182"/>
            <a:ext cx="233740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 of how fraud incidents damage brand reputation and customer loyalty, leading to account closures and decreased transaction volume.</a:t>
            </a:r>
            <a:endParaRPr lang="en-US" sz="144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513" y="1029120"/>
            <a:ext cx="2448981" cy="65306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4" y="1366822"/>
            <a:ext cx="2630933" cy="30798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196241" y="3337102"/>
            <a:ext cx="754299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22" name="Shape 12"/>
          <p:cNvSpPr/>
          <p:nvPr/>
        </p:nvSpPr>
        <p:spPr>
          <a:xfrm>
            <a:off x="6760036" y="4436996"/>
            <a:ext cx="1580293" cy="0"/>
          </a:xfrm>
          <a:custGeom>
            <a:avLst/>
            <a:gdLst/>
            <a:ahLst/>
            <a:cxnLst/>
            <a:rect l="l" t="t" r="r" b="b"/>
            <a:pathLst>
              <a:path w="1580293">
                <a:moveTo>
                  <a:pt x="0" y="0"/>
                </a:moveTo>
                <a:moveTo>
                  <a:pt x="0" y="0"/>
                </a:moveTo>
                <a:lnTo>
                  <a:pt x="1580293" y="0"/>
                </a:lnTo>
              </a:path>
            </a:pathLst>
          </a:custGeom>
          <a:noFill/>
          <a:ln w="4024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3"/>
          <p:cNvSpPr/>
          <p:nvPr/>
        </p:nvSpPr>
        <p:spPr>
          <a:xfrm>
            <a:off x="6594657" y="1162473"/>
            <a:ext cx="1958247" cy="3766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Cost Analysis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6404687" y="1682182"/>
            <a:ext cx="233740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Breakdown of expenses for manual review processes, customer service requirements, and chargeback management that strain operational resources.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Processing Methodology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Engineering Techniques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247794" y="2204247"/>
            <a:ext cx="6576655" cy="0"/>
          </a:xfrm>
          <a:custGeom>
            <a:avLst/>
            <a:gdLst/>
            <a:ahLst/>
            <a:cxnLst/>
            <a:rect l="l" t="t" r="r" b="b"/>
            <a:pathLst>
              <a:path w="6576655">
                <a:moveTo>
                  <a:pt x="0" y="0"/>
                </a:moveTo>
                <a:moveTo>
                  <a:pt x="0" y="0"/>
                </a:moveTo>
                <a:lnTo>
                  <a:pt x="6576655" y="0"/>
                </a:lnTo>
              </a:path>
            </a:pathLst>
          </a:custGeom>
          <a:noFill/>
          <a:ln w="19050">
            <a:solidFill>
              <a:srgbClr val="D6D9E1">
                <a:alpha val="3607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397707" y="3274095"/>
            <a:ext cx="6426742" cy="0"/>
          </a:xfrm>
          <a:custGeom>
            <a:avLst/>
            <a:gdLst/>
            <a:ahLst/>
            <a:cxnLst/>
            <a:rect l="l" t="t" r="r" b="b"/>
            <a:pathLst>
              <a:path w="6426742">
                <a:moveTo>
                  <a:pt x="0" y="0"/>
                </a:moveTo>
                <a:moveTo>
                  <a:pt x="0" y="0"/>
                </a:moveTo>
                <a:lnTo>
                  <a:pt x="6426742" y="0"/>
                </a:lnTo>
              </a:path>
            </a:pathLst>
          </a:custGeom>
          <a:noFill/>
          <a:ln w="19050">
            <a:solidFill>
              <a:srgbClr val="E1E1E1">
                <a:alpha val="3607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79882" y="4353087"/>
            <a:ext cx="6044567" cy="0"/>
          </a:xfrm>
          <a:custGeom>
            <a:avLst/>
            <a:gdLst/>
            <a:ahLst/>
            <a:cxnLst/>
            <a:rect l="l" t="t" r="r" b="b"/>
            <a:pathLst>
              <a:path w="6044567">
                <a:moveTo>
                  <a:pt x="0" y="0"/>
                </a:moveTo>
                <a:moveTo>
                  <a:pt x="0" y="0"/>
                </a:moveTo>
                <a:lnTo>
                  <a:pt x="6044567" y="0"/>
                </a:lnTo>
              </a:path>
            </a:pathLst>
          </a:custGeom>
          <a:noFill/>
          <a:ln w="19050">
            <a:solidFill>
              <a:srgbClr val="E1E1E1">
                <a:alpha val="3607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362274" y="783928"/>
            <a:ext cx="4550368" cy="424228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-398850" y="607247"/>
            <a:ext cx="4550368" cy="485342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98850" y="665765"/>
            <a:ext cx="4550368" cy="48534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05163" y="1381287"/>
            <a:ext cx="3448442" cy="3840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Time-Based Feature Creation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5907720" y="1061247"/>
            <a:ext cx="299966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Extracted hour, day, month from unix_time to capture temporal fraud patterns and transaction seasonality.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915384" y="2542575"/>
            <a:ext cx="2938222" cy="3840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Geographical Risk Scoring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5907720" y="2222535"/>
            <a:ext cx="299966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Transformed latitude/longitude into distance metrics and location-based risk scores based on historical fraud rates.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406117" y="3621567"/>
            <a:ext cx="2447488" cy="3840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 Normalization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5907720" y="3301527"/>
            <a:ext cx="299966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Applied log transformation to transaction amounts to reduce skewness and improve model performance on outlier values.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Encoding Categorical Variables</a:t>
            </a:r>
            <a:endParaRPr lang="en-US" sz="1440" dirty="0"/>
          </a:p>
        </p:txBody>
      </p:sp>
      <p:sp>
        <p:nvSpPr>
          <p:cNvPr id="6" name="Shape 1"/>
          <p:cNvSpPr/>
          <p:nvPr/>
        </p:nvSpPr>
        <p:spPr>
          <a:xfrm>
            <a:off x="1954804" y="2336207"/>
            <a:ext cx="459685" cy="374743"/>
          </a:xfrm>
          <a:custGeom>
            <a:avLst/>
            <a:gdLst/>
            <a:ahLst/>
            <a:cxnLst/>
            <a:rect l="l" t="t" r="r" b="b"/>
            <a:pathLst>
              <a:path w="459685" h="374743">
                <a:moveTo>
                  <a:pt x="91937" y="0"/>
                </a:moveTo>
                <a:moveTo>
                  <a:pt x="91937" y="0"/>
                </a:moveTo>
                <a:lnTo>
                  <a:pt x="367748" y="0"/>
                </a:lnTo>
                <a:lnTo>
                  <a:pt x="459685" y="187372"/>
                </a:lnTo>
                <a:lnTo>
                  <a:pt x="367748" y="374743"/>
                </a:lnTo>
                <a:lnTo>
                  <a:pt x="91937" y="374743"/>
                </a:lnTo>
                <a:lnTo>
                  <a:pt x="0" y="187372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2"/>
          <p:cNvSpPr/>
          <p:nvPr/>
        </p:nvSpPr>
        <p:spPr>
          <a:xfrm>
            <a:off x="1367470" y="3560219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47654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174" y="2415106"/>
            <a:ext cx="216945" cy="21694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944639" y="2336207"/>
            <a:ext cx="459685" cy="374743"/>
          </a:xfrm>
          <a:custGeom>
            <a:avLst/>
            <a:gdLst/>
            <a:ahLst/>
            <a:cxnLst/>
            <a:rect l="l" t="t" r="r" b="b"/>
            <a:pathLst>
              <a:path w="459685" h="374743">
                <a:moveTo>
                  <a:pt x="91937" y="0"/>
                </a:moveTo>
                <a:moveTo>
                  <a:pt x="91937" y="0"/>
                </a:moveTo>
                <a:lnTo>
                  <a:pt x="367748" y="0"/>
                </a:lnTo>
                <a:lnTo>
                  <a:pt x="459685" y="187372"/>
                </a:lnTo>
                <a:lnTo>
                  <a:pt x="367748" y="374743"/>
                </a:lnTo>
                <a:lnTo>
                  <a:pt x="91937" y="374743"/>
                </a:lnTo>
                <a:lnTo>
                  <a:pt x="0" y="187372"/>
                </a:ln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4"/>
          <p:cNvSpPr/>
          <p:nvPr/>
        </p:nvSpPr>
        <p:spPr>
          <a:xfrm>
            <a:off x="4357304" y="3560219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47654">
            <a:solidFill>
              <a:srgbClr val="FF7E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5"/>
          <p:cNvSpPr/>
          <p:nvPr/>
        </p:nvSpPr>
        <p:spPr>
          <a:xfrm>
            <a:off x="7934473" y="2336207"/>
            <a:ext cx="459685" cy="374743"/>
          </a:xfrm>
          <a:custGeom>
            <a:avLst/>
            <a:gdLst/>
            <a:ahLst/>
            <a:cxnLst/>
            <a:rect l="l" t="t" r="r" b="b"/>
            <a:pathLst>
              <a:path w="459685" h="374743">
                <a:moveTo>
                  <a:pt x="91937" y="0"/>
                </a:moveTo>
                <a:moveTo>
                  <a:pt x="91937" y="0"/>
                </a:moveTo>
                <a:lnTo>
                  <a:pt x="367748" y="0"/>
                </a:lnTo>
                <a:lnTo>
                  <a:pt x="459685" y="187372"/>
                </a:lnTo>
                <a:lnTo>
                  <a:pt x="367748" y="374743"/>
                </a:lnTo>
                <a:lnTo>
                  <a:pt x="91937" y="374743"/>
                </a:lnTo>
                <a:lnTo>
                  <a:pt x="0" y="187372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6"/>
          <p:cNvSpPr/>
          <p:nvPr/>
        </p:nvSpPr>
        <p:spPr>
          <a:xfrm>
            <a:off x="7347139" y="3560219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47654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325" y="2418423"/>
            <a:ext cx="210312" cy="21031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784" y="2385047"/>
            <a:ext cx="277063" cy="27706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06241" y="2899655"/>
            <a:ext cx="2551850" cy="4872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Label Encoding for Categories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306241" y="3667302"/>
            <a:ext cx="255185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Transformed categorical variables like gender and category into numerical values, making them compatible with tree-based machine learning models.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296075" y="2899655"/>
            <a:ext cx="2551850" cy="4872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One-Hot Encoding Alternative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3296075" y="3667302"/>
            <a:ext cx="2551850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Considered one-hot encoding for categorical variables but selected label encoding due to tree model compatibility and dataset size efficiency.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6285909" y="2899655"/>
            <a:ext cx="2551850" cy="4872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Handling Ordinal Variables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6285909" y="3667302"/>
            <a:ext cx="255185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Applied specific encoding strategies for ordinal variables to preserve their inherent order and relationship within the fraud detection framework.</a:t>
            </a:r>
            <a:endParaRPr lang="en-US" sz="1440" dirty="0"/>
          </a:p>
        </p:txBody>
      </p:sp>
      <p:pic>
        <p:nvPicPr>
          <p:cNvPr id="22" name="Graphic 21" descr="Question mark with solid fill">
            <a:extLst>
              <a:ext uri="{FF2B5EF4-FFF2-40B4-BE49-F238E27FC236}">
                <a16:creationId xmlns:a16="http://schemas.microsoft.com/office/drawing/2014/main" id="{40D5AB81-8840-A892-0CE0-AC0C6481B9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4966" y="1957906"/>
            <a:ext cx="914400" cy="914400"/>
          </a:xfrm>
          <a:prstGeom prst="rect">
            <a:avLst/>
          </a:prstGeom>
        </p:spPr>
      </p:pic>
      <p:pic>
        <p:nvPicPr>
          <p:cNvPr id="24" name="Graphic 23" descr="Magnifying glass with solid fill">
            <a:extLst>
              <a:ext uri="{FF2B5EF4-FFF2-40B4-BE49-F238E27FC236}">
                <a16:creationId xmlns:a16="http://schemas.microsoft.com/office/drawing/2014/main" id="{58EFB275-EB8A-40E8-422E-276E8F78A4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95386" y="1957906"/>
            <a:ext cx="914400" cy="914400"/>
          </a:xfrm>
          <a:prstGeom prst="rect">
            <a:avLst/>
          </a:prstGeom>
        </p:spPr>
      </p:pic>
      <p:pic>
        <p:nvPicPr>
          <p:cNvPr id="26" name="Graphic 25" descr="Fork In Road outline">
            <a:extLst>
              <a:ext uri="{FF2B5EF4-FFF2-40B4-BE49-F238E27FC236}">
                <a16:creationId xmlns:a16="http://schemas.microsoft.com/office/drawing/2014/main" id="{E0205C15-99C5-7210-06A3-2C5F8EEC28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4800" y="198525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Missing Value Imputation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41" y="1004913"/>
            <a:ext cx="2706573" cy="34396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2554" y="2041177"/>
            <a:ext cx="2448430" cy="594202"/>
          </a:xfrm>
          <a:custGeom>
            <a:avLst/>
            <a:gdLst/>
            <a:ahLst/>
            <a:cxnLst/>
            <a:rect l="l" t="t" r="r" b="b"/>
            <a:pathLst>
              <a:path w="2448430" h="594202">
                <a:moveTo>
                  <a:pt x="245983" y="0"/>
                </a:moveTo>
                <a:moveTo>
                  <a:pt x="245983" y="0"/>
                </a:moveTo>
                <a:lnTo>
                  <a:pt x="2202447" y="0"/>
                </a:lnTo>
                <a:quadBezTo>
                  <a:pt x="2448430" y="0"/>
                  <a:pt x="2448430" y="297101"/>
                </a:quadBezTo>
                <a:lnTo>
                  <a:pt x="2448430" y="297101"/>
                </a:lnTo>
                <a:quadBezTo>
                  <a:pt x="2448430" y="594202"/>
                  <a:pt x="2202447" y="594202"/>
                </a:quadBezTo>
                <a:lnTo>
                  <a:pt x="245983" y="594202"/>
                </a:lnTo>
                <a:quadBezTo>
                  <a:pt x="0" y="594202"/>
                  <a:pt x="0" y="297101"/>
                </a:quadBezTo>
                <a:lnTo>
                  <a:pt x="0" y="297101"/>
                </a:lnTo>
                <a:quadBezTo>
                  <a:pt x="0" y="0"/>
                  <a:pt x="245983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295784" y="1095469"/>
            <a:ext cx="741688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900" y="1004967"/>
            <a:ext cx="2706759" cy="343993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53064" y="2041177"/>
            <a:ext cx="2448430" cy="594202"/>
          </a:xfrm>
          <a:custGeom>
            <a:avLst/>
            <a:gdLst/>
            <a:ahLst/>
            <a:cxnLst/>
            <a:rect l="l" t="t" r="r" b="b"/>
            <a:pathLst>
              <a:path w="2448430" h="594202">
                <a:moveTo>
                  <a:pt x="245983" y="0"/>
                </a:moveTo>
                <a:moveTo>
                  <a:pt x="245983" y="0"/>
                </a:moveTo>
                <a:lnTo>
                  <a:pt x="2202447" y="0"/>
                </a:lnTo>
                <a:quadBezTo>
                  <a:pt x="2448430" y="0"/>
                  <a:pt x="2448430" y="297101"/>
                </a:quadBezTo>
                <a:lnTo>
                  <a:pt x="2448430" y="297101"/>
                </a:lnTo>
                <a:quadBezTo>
                  <a:pt x="2448430" y="594202"/>
                  <a:pt x="2202447" y="594202"/>
                </a:quadBezTo>
                <a:lnTo>
                  <a:pt x="245983" y="594202"/>
                </a:lnTo>
                <a:quadBezTo>
                  <a:pt x="0" y="594202"/>
                  <a:pt x="0" y="297101"/>
                </a:quadBezTo>
                <a:lnTo>
                  <a:pt x="0" y="297101"/>
                </a:lnTo>
                <a:quadBezTo>
                  <a:pt x="0" y="0"/>
                  <a:pt x="245983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7106435" y="1095469"/>
            <a:ext cx="741688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523852" y="2153079"/>
            <a:ext cx="2285552" cy="37039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Numerical Feature Imputation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564509" y="2621709"/>
            <a:ext cx="220423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Missing numerical values were replaced with mean values to maintain statistical integrity while ensuring complete data for model training.</a:t>
            </a:r>
            <a:endParaRPr lang="en-US" sz="144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44" y="1004913"/>
            <a:ext cx="2706759" cy="343993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47809" y="2041177"/>
            <a:ext cx="2448430" cy="594202"/>
          </a:xfrm>
          <a:custGeom>
            <a:avLst/>
            <a:gdLst/>
            <a:ahLst/>
            <a:cxnLst/>
            <a:rect l="l" t="t" r="r" b="b"/>
            <a:pathLst>
              <a:path w="2448430" h="594202">
                <a:moveTo>
                  <a:pt x="245983" y="0"/>
                </a:moveTo>
                <a:moveTo>
                  <a:pt x="245983" y="0"/>
                </a:moveTo>
                <a:lnTo>
                  <a:pt x="2202447" y="0"/>
                </a:lnTo>
                <a:quadBezTo>
                  <a:pt x="2448430" y="0"/>
                  <a:pt x="2448430" y="297101"/>
                </a:quadBezTo>
                <a:lnTo>
                  <a:pt x="2448430" y="297101"/>
                </a:lnTo>
                <a:quadBezTo>
                  <a:pt x="2448430" y="594202"/>
                  <a:pt x="2202447" y="594202"/>
                </a:quadBezTo>
                <a:lnTo>
                  <a:pt x="245983" y="594202"/>
                </a:lnTo>
                <a:quadBezTo>
                  <a:pt x="0" y="594202"/>
                  <a:pt x="0" y="297101"/>
                </a:quadBezTo>
                <a:lnTo>
                  <a:pt x="0" y="297101"/>
                </a:lnTo>
                <a:quadBezTo>
                  <a:pt x="0" y="0"/>
                  <a:pt x="245983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4201180" y="1095469"/>
            <a:ext cx="741688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429248" y="2143581"/>
            <a:ext cx="2285552" cy="3893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Categorical Feature Handling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3469905" y="2621709"/>
            <a:ext cx="220423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Missing categorical values were imputed using mode (most frequent value) to preserve distribution patterns in gender and category features.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6334267" y="2157827"/>
            <a:ext cx="2286024" cy="36090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Imputation Strategy Rationale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6375160" y="2621709"/>
            <a:ext cx="220423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and mode imputation were selected for their computational efficiency and minimal impact on the fraud detection model's performance.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Implementation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Selection Criteria</a:t>
            </a:r>
            <a:endParaRPr lang="en-US" sz="1440" dirty="0"/>
          </a:p>
        </p:txBody>
      </p:sp>
      <p:pic>
        <p:nvPicPr>
          <p:cNvPr id="3" name="Image 0" descr="https://oceandoc-ai.obs.ap-southeast-3.myhuaweicloud.com:443/image_1767422573430_z2Pe0z.jpg"/>
          <p:cNvPicPr>
            <a:picLocks noChangeAspect="1"/>
          </p:cNvPicPr>
          <p:nvPr/>
        </p:nvPicPr>
        <p:blipFill>
          <a:blip r:embed="rId4"/>
          <a:srcRect l="20000" r="20000"/>
          <a:stretch/>
        </p:blipFill>
        <p:spPr>
          <a:xfrm>
            <a:off x="6741344" y="978502"/>
            <a:ext cx="2136517" cy="35608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5637" y="978502"/>
            <a:ext cx="87820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319916" y="1722879"/>
            <a:ext cx="1976937" cy="383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 Selection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319916" y="2351627"/>
            <a:ext cx="1977017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Prioritizing recall for fraud detection while balancing precision to minimize false positives that create customer friction.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2457840" y="978502"/>
            <a:ext cx="87820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2532381" y="1722879"/>
            <a:ext cx="1977017" cy="383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Complexity vs Interpretability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2532381" y="2351557"/>
            <a:ext cx="1977017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Evaluating trade-offs between high-performing black-box models and more transparent algorithms for regulatory compliance and stakeholder trust.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4595299" y="978502"/>
            <a:ext cx="87820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670101" y="1723276"/>
            <a:ext cx="1977017" cy="383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Handling Class Imbalance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670044" y="2351557"/>
            <a:ext cx="1977017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Assessing models on their ability to detect minority fraud cases despite the 99.43% legitimate transaction dominance.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Precision-Recall Balance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432" y="969009"/>
            <a:ext cx="2759752" cy="275975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432" y="969009"/>
            <a:ext cx="2759752" cy="27597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41720" y="1781957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Text 2"/>
          <p:cNvSpPr/>
          <p:nvPr/>
        </p:nvSpPr>
        <p:spPr>
          <a:xfrm>
            <a:off x="5214104" y="1781957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3"/>
          <p:cNvSpPr/>
          <p:nvPr/>
        </p:nvSpPr>
        <p:spPr>
          <a:xfrm>
            <a:off x="4246693" y="3087872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278358" y="1469441"/>
            <a:ext cx="281002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Trade-off Between Metrics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278358" y="1782166"/>
            <a:ext cx="2810028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Balancing precision and recall is critical in fraud detection to minimize both false positives and false negatives while maximizing model effectiveness.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6055865" y="1460240"/>
            <a:ext cx="285067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Cost Analysis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6055614" y="1773022"/>
            <a:ext cx="2850923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precision reduces customer friction; higher recall catches more fraud. Each business must determine optimal balance based on financial impact.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1639282" y="3756193"/>
            <a:ext cx="586617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Threshold Optimization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1609169" y="4058160"/>
            <a:ext cx="592566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Adjusting classification threshold allows customization of precision-recall balance according to business priorities and risk tolerance levels.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Evaluation Metrics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9" y="1306072"/>
            <a:ext cx="8922252" cy="189597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4122" y="1219329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44122" y="1118849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1770341" y="3294391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3779623" y="1015203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24621" y="1690310"/>
            <a:ext cx="2493292" cy="4205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9623" y="914723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5604416" y="302072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70341" y="3193911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5613560" y="2929392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6986" y="152064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 and Recall Balance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576870" y="1932592"/>
            <a:ext cx="2958288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metrics for fraud detection, balancing accurate fraud identification (precision) with comprehensive detection (recall) to minimize false positives and negatives.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1767535" y="3613709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Confusion Matrix Analysis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1748333" y="4036162"/>
            <a:ext cx="295808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representation showing true positives, false positives, true negatives, and false negatives to evaluate model performance across prediction outcomes.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3902659" y="1311250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ROC and AUC</a:t>
            </a:r>
            <a:endParaRPr lang="en-US" sz="1440" dirty="0"/>
          </a:p>
        </p:txBody>
      </p:sp>
      <p:sp>
        <p:nvSpPr>
          <p:cNvPr id="21" name="Text 14"/>
          <p:cNvSpPr/>
          <p:nvPr/>
        </p:nvSpPr>
        <p:spPr>
          <a:xfrm>
            <a:off x="3902646" y="1722730"/>
            <a:ext cx="295808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ROC curve plots true positive rate against false positive rate, while AUC quantifies overall classification performance across all threshold values.</a:t>
            </a:r>
            <a:endParaRPr lang="en-US" sz="1440" dirty="0"/>
          </a:p>
        </p:txBody>
      </p:sp>
      <p:sp>
        <p:nvSpPr>
          <p:cNvPr id="22" name="Text 15"/>
          <p:cNvSpPr/>
          <p:nvPr/>
        </p:nvSpPr>
        <p:spPr>
          <a:xfrm>
            <a:off x="5773522" y="339516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F1 Score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5773740" y="3813048"/>
            <a:ext cx="295808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Harmonic mean of precision and recall, providing a single metric that balances both concerns for imbalanced fraud detection scenarios.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4056" y="1902833"/>
            <a:ext cx="3275888" cy="8229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760</Words>
  <Application>Microsoft Office PowerPoint</Application>
  <PresentationFormat>On-screen Show (16:9)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Roynel Cura</cp:lastModifiedBy>
  <cp:revision>2</cp:revision>
  <dcterms:created xsi:type="dcterms:W3CDTF">2026-01-03T06:44:27Z</dcterms:created>
  <dcterms:modified xsi:type="dcterms:W3CDTF">2026-01-03T07:08:49Z</dcterms:modified>
</cp:coreProperties>
</file>