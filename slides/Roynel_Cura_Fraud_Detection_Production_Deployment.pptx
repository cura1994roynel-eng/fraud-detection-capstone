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07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49695" y="2701138"/>
            <a:ext cx="4724705" cy="527609"/>
          </a:xfrm>
          <a:custGeom>
            <a:avLst/>
            <a:gdLst/>
            <a:ahLst/>
            <a:cxnLst/>
            <a:rect l="l" t="t" r="r" b="b"/>
            <a:pathLst>
              <a:path w="4724705" h="527609">
                <a:moveTo>
                  <a:pt x="65951" y="0"/>
                </a:moveTo>
                <a:moveTo>
                  <a:pt x="65951" y="0"/>
                </a:moveTo>
                <a:lnTo>
                  <a:pt x="4658754" y="0"/>
                </a:lnTo>
                <a:quadBezTo>
                  <a:pt x="4724705" y="0"/>
                  <a:pt x="4724705" y="65951"/>
                </a:quadBezTo>
                <a:lnTo>
                  <a:pt x="4724705" y="461658"/>
                </a:lnTo>
                <a:quadBezTo>
                  <a:pt x="4724705" y="527609"/>
                  <a:pt x="4658754" y="527609"/>
                </a:quadBezTo>
                <a:lnTo>
                  <a:pt x="65951" y="527609"/>
                </a:lnTo>
                <a:quadBezTo>
                  <a:pt x="0" y="527609"/>
                  <a:pt x="0" y="461658"/>
                </a:quadBezTo>
                <a:lnTo>
                  <a:pt x="0" y="65951"/>
                </a:lnTo>
                <a:quadBezTo>
                  <a:pt x="0" y="0"/>
                  <a:pt x="65951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68066" y="1606529"/>
            <a:ext cx="6687963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68" b="1" kern="0" spc="72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Fraud Detection Production Deployment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2149695" y="2754630"/>
            <a:ext cx="4724705" cy="4206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Implementation Technical Guide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3658118" y="3348627"/>
            <a:ext cx="1707859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Roynel Cura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371" y="680974"/>
            <a:ext cx="3275258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74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959380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 Setup &amp; Dependencies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854224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973096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Architecture Design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854224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664383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Deployment &amp; Monitoring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545511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FF9B0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 Setup &amp; Dependencies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Matching Production Environment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 rot="2700000">
            <a:off x="434967" y="3156580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7E01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2700000">
            <a:off x="434967" y="1930446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7E01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2700000">
            <a:off x="434967" y="2543513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2700000">
            <a:off x="434967" y="3769647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2700000">
            <a:off x="434967" y="1317379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76676" y="2536963"/>
            <a:ext cx="683510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376676" y="3769647"/>
            <a:ext cx="683510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76676" y="1317379"/>
            <a:ext cx="683510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968258" y="1128980"/>
            <a:ext cx="7858190" cy="943726"/>
          </a:xfrm>
          <a:custGeom>
            <a:avLst/>
            <a:gdLst/>
            <a:ahLst/>
            <a:cxnLst/>
            <a:rect l="l" t="t" r="r" b="b"/>
            <a:pathLst>
              <a:path w="7858190" h="943726">
                <a:moveTo>
                  <a:pt x="109245" y="0"/>
                </a:moveTo>
                <a:moveTo>
                  <a:pt x="109245" y="0"/>
                </a:moveTo>
                <a:lnTo>
                  <a:pt x="7748946" y="0"/>
                </a:lnTo>
                <a:quadBezTo>
                  <a:pt x="7858190" y="0"/>
                  <a:pt x="7858190" y="117966"/>
                </a:quadBezTo>
                <a:lnTo>
                  <a:pt x="7858190" y="825761"/>
                </a:lnTo>
                <a:quadBezTo>
                  <a:pt x="7858190" y="943726"/>
                  <a:pt x="7748946" y="943726"/>
                </a:quadBezTo>
                <a:lnTo>
                  <a:pt x="109245" y="943726"/>
                </a:lnTo>
                <a:quadBezTo>
                  <a:pt x="0" y="943726"/>
                  <a:pt x="0" y="825761"/>
                </a:quadBezTo>
                <a:lnTo>
                  <a:pt x="0" y="117966"/>
                </a:lnTo>
                <a:quadBezTo>
                  <a:pt x="0" y="0"/>
                  <a:pt x="109245" y="0"/>
                </a:quadBezTo>
                <a:close/>
              </a:path>
            </a:pathLst>
          </a:custGeom>
          <a:solidFill>
            <a:srgbClr val="0084FF">
              <a:alpha val="0"/>
            </a:srgbClr>
          </a:solidFill>
          <a:ln w="19050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19309" y="1413391"/>
            <a:ext cx="2858315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D26E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 Consistency Requirements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127857" y="1180219"/>
            <a:ext cx="4501915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Ensuring production systems mirror development environments prevents model drift and maintains prediction accuracy across the deployment pipeline.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968258" y="2354848"/>
            <a:ext cx="7858190" cy="943726"/>
          </a:xfrm>
          <a:custGeom>
            <a:avLst/>
            <a:gdLst/>
            <a:ahLst/>
            <a:cxnLst/>
            <a:rect l="l" t="t" r="r" b="b"/>
            <a:pathLst>
              <a:path w="7858190" h="943726">
                <a:moveTo>
                  <a:pt x="109245" y="0"/>
                </a:moveTo>
                <a:moveTo>
                  <a:pt x="109245" y="0"/>
                </a:moveTo>
                <a:lnTo>
                  <a:pt x="7748946" y="0"/>
                </a:lnTo>
                <a:quadBezTo>
                  <a:pt x="7858190" y="0"/>
                  <a:pt x="7858190" y="117966"/>
                </a:quadBezTo>
                <a:lnTo>
                  <a:pt x="7858190" y="825761"/>
                </a:lnTo>
                <a:quadBezTo>
                  <a:pt x="7858190" y="943726"/>
                  <a:pt x="7748946" y="943726"/>
                </a:quadBezTo>
                <a:lnTo>
                  <a:pt x="109245" y="943726"/>
                </a:lnTo>
                <a:quadBezTo>
                  <a:pt x="0" y="943726"/>
                  <a:pt x="0" y="825761"/>
                </a:quadBezTo>
                <a:lnTo>
                  <a:pt x="0" y="117966"/>
                </a:lnTo>
                <a:quadBezTo>
                  <a:pt x="0" y="0"/>
                  <a:pt x="10924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68258" y="3581248"/>
            <a:ext cx="7858190" cy="943726"/>
          </a:xfrm>
          <a:custGeom>
            <a:avLst/>
            <a:gdLst/>
            <a:ahLst/>
            <a:cxnLst/>
            <a:rect l="l" t="t" r="r" b="b"/>
            <a:pathLst>
              <a:path w="7858190" h="943726">
                <a:moveTo>
                  <a:pt x="109245" y="0"/>
                </a:moveTo>
                <a:moveTo>
                  <a:pt x="109245" y="0"/>
                </a:moveTo>
                <a:lnTo>
                  <a:pt x="7748946" y="0"/>
                </a:lnTo>
                <a:quadBezTo>
                  <a:pt x="7858190" y="0"/>
                  <a:pt x="7858190" y="117966"/>
                </a:quadBezTo>
                <a:lnTo>
                  <a:pt x="7858190" y="825761"/>
                </a:lnTo>
                <a:quadBezTo>
                  <a:pt x="7858190" y="943726"/>
                  <a:pt x="7748946" y="943726"/>
                </a:quadBezTo>
                <a:lnTo>
                  <a:pt x="109245" y="943726"/>
                </a:lnTo>
                <a:quadBezTo>
                  <a:pt x="0" y="943726"/>
                  <a:pt x="0" y="825761"/>
                </a:quadBezTo>
                <a:lnTo>
                  <a:pt x="0" y="117966"/>
                </a:lnTo>
                <a:quadBezTo>
                  <a:pt x="0" y="0"/>
                  <a:pt x="10924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9B0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119309" y="2625544"/>
            <a:ext cx="2858315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D26E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Dependency Management Strategies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127857" y="2406088"/>
            <a:ext cx="4501915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Implementing containerization with Docker or environment managers like Conda ensures consistent library versions and system dependencies across all deployment stages.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1119515" y="3865659"/>
            <a:ext cx="2858315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D26E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Version Control for Environments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129686" y="3632487"/>
            <a:ext cx="4500086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Maintaining configuration files that document exact package versions and system specifications enables reproducible environments for consistent model performance.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Required Libraries Installation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" y="977021"/>
            <a:ext cx="4050670" cy="12466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04481" y="2521565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FF9B01"/>
          </a:solidFill>
          <a:ln w="238125">
            <a:solidFill>
              <a:srgbClr val="FF9B01">
                <a:alpha val="25882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8390" y="3461827"/>
            <a:ext cx="6567063" cy="12466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53463" y="2521565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FF9B01"/>
          </a:solidFill>
          <a:ln w="238125">
            <a:solidFill>
              <a:srgbClr val="FF9B01">
                <a:alpha val="25882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3"/>
          <p:cNvSpPr/>
          <p:nvPr/>
        </p:nvSpPr>
        <p:spPr>
          <a:xfrm>
            <a:off x="6013218" y="2530709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FF9B01"/>
          </a:solidFill>
          <a:ln w="238125">
            <a:solidFill>
              <a:srgbClr val="FF9B01">
                <a:alpha val="25882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3239119" y="2834716"/>
            <a:ext cx="870534" cy="0"/>
          </a:xfrm>
          <a:custGeom>
            <a:avLst/>
            <a:gdLst/>
            <a:ahLst/>
            <a:cxnLst/>
            <a:rect l="l" t="t" r="r" b="b"/>
            <a:pathLst>
              <a:path w="870534">
                <a:moveTo>
                  <a:pt x="0" y="0"/>
                </a:moveTo>
                <a:moveTo>
                  <a:pt x="0" y="0"/>
                </a:moveTo>
                <a:lnTo>
                  <a:pt x="870534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574" y="977021"/>
            <a:ext cx="4050136" cy="12466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409" y="1062686"/>
            <a:ext cx="3802544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Python Libraries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463409" y="1324216"/>
            <a:ext cx="380254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Essential packages including pandas for data manipulation, numpy for numerical operations, and joblib for model persistence must be installed in the production environment.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1406959" y="3643725"/>
            <a:ext cx="628499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Framework Dependencies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1407147" y="3904813"/>
            <a:ext cx="628480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XGBoost and scikit-learn libraries are required for loading and operating the serialized fraud detection model in the production environment.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4878324" y="1055218"/>
            <a:ext cx="3802990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Framework Installation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4878047" y="1316736"/>
            <a:ext cx="380299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FastAPI or Flask must be installed to create the API endpoints that will serve the model predictions to client applications.</a:t>
            </a:r>
            <a:endParaRPr lang="en-US" sz="1440" dirty="0"/>
          </a:p>
        </p:txBody>
      </p:sp>
      <p:sp>
        <p:nvSpPr>
          <p:cNvPr id="16" name="Shape 11"/>
          <p:cNvSpPr/>
          <p:nvPr/>
        </p:nvSpPr>
        <p:spPr>
          <a:xfrm>
            <a:off x="4566614" y="3260516"/>
            <a:ext cx="0" cy="201311"/>
          </a:xfrm>
          <a:custGeom>
            <a:avLst/>
            <a:gdLst/>
            <a:ahLst/>
            <a:cxnLst/>
            <a:rect l="l" t="t" r="r" b="b"/>
            <a:pathLst>
              <a:path h="201311">
                <a:moveTo>
                  <a:pt x="0" y="201311"/>
                </a:moveTo>
                <a:moveTo>
                  <a:pt x="0" y="20131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6326369" y="2224681"/>
            <a:ext cx="0" cy="196229"/>
          </a:xfrm>
          <a:custGeom>
            <a:avLst/>
            <a:gdLst/>
            <a:ahLst/>
            <a:cxnLst/>
            <a:rect l="l" t="t" r="r" b="b"/>
            <a:pathLst>
              <a:path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2817631" y="2217022"/>
            <a:ext cx="0" cy="196229"/>
          </a:xfrm>
          <a:custGeom>
            <a:avLst/>
            <a:gdLst/>
            <a:ahLst/>
            <a:cxnLst/>
            <a:rect l="l" t="t" r="r" b="b"/>
            <a:pathLst>
              <a:path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2442461" y="2564968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4191443" y="2571795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5951198" y="2562651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22" name="Shape 17"/>
          <p:cNvSpPr/>
          <p:nvPr/>
        </p:nvSpPr>
        <p:spPr>
          <a:xfrm>
            <a:off x="4999207" y="2834716"/>
            <a:ext cx="870534" cy="0"/>
          </a:xfrm>
          <a:custGeom>
            <a:avLst/>
            <a:gdLst/>
            <a:ahLst/>
            <a:cxnLst/>
            <a:rect l="l" t="t" r="r" b="b"/>
            <a:pathLst>
              <a:path w="870534">
                <a:moveTo>
                  <a:pt x="0" y="0"/>
                </a:moveTo>
                <a:moveTo>
                  <a:pt x="0" y="0"/>
                </a:moveTo>
                <a:lnTo>
                  <a:pt x="870534" y="0"/>
                </a:lnTo>
              </a:path>
            </a:pathLst>
          </a:custGeom>
          <a:noFill/>
          <a:ln w="9525">
            <a:solidFill>
              <a:srgbClr val="FF9B0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Serialization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244743" y="1003513"/>
            <a:ext cx="2705818" cy="3819978"/>
          </a:xfrm>
          <a:custGeom>
            <a:avLst/>
            <a:gdLst/>
            <a:ahLst/>
            <a:cxnLst/>
            <a:rect l="l" t="t" r="r" b="b"/>
            <a:pathLst>
              <a:path w="2705818" h="3819978">
                <a:moveTo>
                  <a:pt x="0" y="0"/>
                </a:moveTo>
                <a:moveTo>
                  <a:pt x="0" y="0"/>
                </a:moveTo>
                <a:lnTo>
                  <a:pt x="2705818" y="0"/>
                </a:lnTo>
                <a:lnTo>
                  <a:pt x="2705818" y="3819978"/>
                </a:lnTo>
                <a:lnTo>
                  <a:pt x="0" y="3819978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11343" y="1827403"/>
            <a:ext cx="2705818" cy="2996088"/>
          </a:xfrm>
          <a:custGeom>
            <a:avLst/>
            <a:gdLst/>
            <a:ahLst/>
            <a:cxnLst/>
            <a:rect l="l" t="t" r="r" b="b"/>
            <a:pathLst>
              <a:path w="2705818" h="2996088">
                <a:moveTo>
                  <a:pt x="0" y="0"/>
                </a:moveTo>
                <a:moveTo>
                  <a:pt x="0" y="0"/>
                </a:moveTo>
                <a:lnTo>
                  <a:pt x="2705818" y="0"/>
                </a:lnTo>
                <a:lnTo>
                  <a:pt x="2705818" y="2996088"/>
                </a:lnTo>
                <a:lnTo>
                  <a:pt x="0" y="2996088"/>
                </a:lnTo>
                <a:close/>
              </a:path>
            </a:pathLst>
          </a:custGeom>
          <a:solidFill>
            <a:srgbClr val="FF7E01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178144" y="1827403"/>
            <a:ext cx="2705818" cy="2996088"/>
          </a:xfrm>
          <a:custGeom>
            <a:avLst/>
            <a:gdLst/>
            <a:ahLst/>
            <a:cxnLst/>
            <a:rect l="l" t="t" r="r" b="b"/>
            <a:pathLst>
              <a:path w="2705818" h="2996088">
                <a:moveTo>
                  <a:pt x="0" y="0"/>
                </a:moveTo>
                <a:moveTo>
                  <a:pt x="0" y="0"/>
                </a:moveTo>
                <a:lnTo>
                  <a:pt x="2705818" y="0"/>
                </a:lnTo>
                <a:lnTo>
                  <a:pt x="2705818" y="2996088"/>
                </a:lnTo>
                <a:lnTo>
                  <a:pt x="0" y="2996088"/>
                </a:lnTo>
                <a:close/>
              </a:path>
            </a:pathLst>
          </a:custGeom>
          <a:solidFill>
            <a:srgbClr val="FF7E01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124620" y="1302372"/>
            <a:ext cx="954995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068030" y="1882148"/>
            <a:ext cx="954995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260038" y="1882148"/>
            <a:ext cx="954995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52780" y="2679501"/>
            <a:ext cx="2564381" cy="41042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Saving Model State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52780" y="3167011"/>
            <a:ext cx="2432048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Preserving trained model parameters using pickle or joblib to maintain the exact state for consistent predictions in production environments.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376395" y="2093186"/>
            <a:ext cx="2564381" cy="41042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 Selection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3376395" y="2642212"/>
            <a:ext cx="238268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Choosing appropriate serialization formats like PKL, ONNX, or SavedModel based on deployment requirements and cross-platform compatibility needs.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6319581" y="2679501"/>
            <a:ext cx="2564381" cy="41042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 Control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6319581" y="3167011"/>
            <a:ext cx="243165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Implementing systematic versioning for serialized models to track changes, enable rollbacks, and maintain audit trails throughout the model lifecycle.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Architecture Design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JSON Input Structure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401" y="1328506"/>
            <a:ext cx="6190318" cy="7157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7616" y="1261402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770" y="1470556"/>
            <a:ext cx="431673" cy="43167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401" y="2465646"/>
            <a:ext cx="6190318" cy="715773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947616" y="2398542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770" y="2607696"/>
            <a:ext cx="431673" cy="431673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401" y="3602785"/>
            <a:ext cx="6190318" cy="715773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7947616" y="3535681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770" y="3744835"/>
            <a:ext cx="431673" cy="431673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2112529" y="948422"/>
            <a:ext cx="0" cy="3858464"/>
          </a:xfrm>
          <a:custGeom>
            <a:avLst/>
            <a:gdLst/>
            <a:ahLst/>
            <a:cxnLst/>
            <a:rect l="l" t="t" r="r" b="b"/>
            <a:pathLst>
              <a:path h="3858464">
                <a:moveTo>
                  <a:pt x="0" y="0"/>
                </a:moveTo>
                <a:moveTo>
                  <a:pt x="0" y="0"/>
                </a:moveTo>
                <a:lnTo>
                  <a:pt x="0" y="3858464"/>
                </a:lnTo>
              </a:path>
            </a:pathLst>
          </a:custGeom>
          <a:noFill/>
          <a:ln w="9525">
            <a:solidFill>
              <a:srgbClr val="FF9B01">
                <a:alpha val="4705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1089" y="1087716"/>
            <a:ext cx="182880" cy="34442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46989" y="1375496"/>
            <a:ext cx="167410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 Transaction Features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2476522" y="1384640"/>
            <a:ext cx="552570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API expects specific transaction features including amount, category, timestamp, gender, and other fraud-indicating variables in standardized JSON format.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346404" y="2541339"/>
            <a:ext cx="1674686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Payload Structure Example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2476522" y="2521780"/>
            <a:ext cx="552570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sample JSON structure showing proper formatting with all required fields, data types, and acceptable value ranges for API processing.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2476522" y="3658920"/>
            <a:ext cx="552570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inputs must pass validation checks for data completeness, type correctness, and range constraints before preprocessing and model evaluation.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346404" y="3678478"/>
            <a:ext cx="1674686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 Requirements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Preprocessing Pipeline Integration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10" y="1125448"/>
            <a:ext cx="990933" cy="143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0831" y="1156121"/>
            <a:ext cx="714089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464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254264" y="2737892"/>
            <a:ext cx="2707225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Encoding Implementation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474071" y="3195092"/>
            <a:ext cx="226760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Categorical variables must be transformed into numerical representations using the same encoding scheme from the training phase to maintain consistency.</a:t>
            </a:r>
            <a:endParaRPr lang="en-US" sz="144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377" y="1125448"/>
            <a:ext cx="990933" cy="1431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14798" y="1156121"/>
            <a:ext cx="714089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464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218074" y="2737892"/>
            <a:ext cx="270753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7E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Scaling Procedures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3438038" y="3195092"/>
            <a:ext cx="226760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Numerical features require standardization using saved scaling parameters to ensure model inputs match the distribution used during training.</a:t>
            </a:r>
            <a:endParaRPr lang="en-US" sz="144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536" y="1125448"/>
            <a:ext cx="990933" cy="1431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0957" y="1156121"/>
            <a:ext cx="714089" cy="10332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464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084233" y="2737892"/>
            <a:ext cx="270753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Serialization Strategy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6304197" y="3195092"/>
            <a:ext cx="226760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preprocessing workflow should be saved as a serialized object alongside the model to ensure identical transformation sequences for all production data.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Response Format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411" y="3169843"/>
            <a:ext cx="756813" cy="0"/>
          </a:xfrm>
          <a:custGeom>
            <a:avLst/>
            <a:gdLst/>
            <a:ahLst/>
            <a:cxnLst/>
            <a:rect l="l" t="t" r="r" b="b"/>
            <a:pathLst>
              <a:path w="756813">
                <a:moveTo>
                  <a:pt x="0" y="0"/>
                </a:moveTo>
                <a:moveTo>
                  <a:pt x="0" y="0"/>
                </a:moveTo>
                <a:lnTo>
                  <a:pt x="756813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3427" y="1024861"/>
            <a:ext cx="2278893" cy="3444457"/>
          </a:xfrm>
          <a:custGeom>
            <a:avLst/>
            <a:gdLst/>
            <a:ahLst/>
            <a:cxnLst/>
            <a:rect l="l" t="t" r="r" b="b"/>
            <a:pathLst>
              <a:path w="2278893" h="3444457">
                <a:moveTo>
                  <a:pt x="205225" y="0"/>
                </a:moveTo>
                <a:moveTo>
                  <a:pt x="205225" y="0"/>
                </a:moveTo>
                <a:lnTo>
                  <a:pt x="2073668" y="0"/>
                </a:lnTo>
                <a:quadBezTo>
                  <a:pt x="2278893" y="0"/>
                  <a:pt x="2278893" y="261000"/>
                </a:quadBezTo>
                <a:lnTo>
                  <a:pt x="2278893" y="3183457"/>
                </a:lnTo>
                <a:quadBezTo>
                  <a:pt x="2278893" y="3444457"/>
                  <a:pt x="2073668" y="3444457"/>
                </a:quadBezTo>
                <a:lnTo>
                  <a:pt x="205225" y="3444457"/>
                </a:lnTo>
                <a:quadBezTo>
                  <a:pt x="0" y="3444457"/>
                  <a:pt x="0" y="3183457"/>
                </a:quadBezTo>
                <a:lnTo>
                  <a:pt x="0" y="261000"/>
                </a:lnTo>
                <a:quadBezTo>
                  <a:pt x="0" y="0"/>
                  <a:pt x="205225" y="0"/>
                </a:quadBezTo>
                <a:close/>
              </a:path>
            </a:pathLst>
          </a:custGeom>
          <a:solidFill>
            <a:srgbClr val="FF9B01">
              <a:alpha val="10196"/>
            </a:srgbClr>
          </a:solidFill>
          <a:ln w="9525">
            <a:solidFill>
              <a:srgbClr val="FF9B01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38969" y="3739554"/>
            <a:ext cx="2127809" cy="656539"/>
          </a:xfrm>
          <a:custGeom>
            <a:avLst/>
            <a:gdLst/>
            <a:ahLst/>
            <a:cxnLst/>
            <a:rect l="l" t="t" r="r" b="b"/>
            <a:pathLst>
              <a:path w="2127809" h="656539">
                <a:moveTo>
                  <a:pt x="115736" y="0"/>
                </a:moveTo>
                <a:moveTo>
                  <a:pt x="115736" y="0"/>
                </a:moveTo>
                <a:lnTo>
                  <a:pt x="2012073" y="0"/>
                </a:lnTo>
                <a:quadBezTo>
                  <a:pt x="2127809" y="0"/>
                  <a:pt x="2127809" y="115736"/>
                </a:quadBezTo>
                <a:lnTo>
                  <a:pt x="2127809" y="540803"/>
                </a:lnTo>
                <a:quadBezTo>
                  <a:pt x="2127809" y="656539"/>
                  <a:pt x="2012073" y="656539"/>
                </a:quadBezTo>
                <a:lnTo>
                  <a:pt x="115736" y="656539"/>
                </a:lnTo>
                <a:quadBezTo>
                  <a:pt x="0" y="656539"/>
                  <a:pt x="0" y="540803"/>
                </a:quadBezTo>
                <a:lnTo>
                  <a:pt x="0" y="115736"/>
                </a:lnTo>
                <a:quadBezTo>
                  <a:pt x="0" y="0"/>
                  <a:pt x="115736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97553" y="1184756"/>
            <a:ext cx="810643" cy="7863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168" b="1" dirty="0">
                <a:solidFill>
                  <a:srgbClr val="FF9B01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3432762" y="1024765"/>
            <a:ext cx="2278685" cy="3444553"/>
          </a:xfrm>
          <a:custGeom>
            <a:avLst/>
            <a:gdLst/>
            <a:ahLst/>
            <a:cxnLst/>
            <a:rect l="l" t="t" r="r" b="b"/>
            <a:pathLst>
              <a:path w="2278685" h="3444553">
                <a:moveTo>
                  <a:pt x="205206" y="0"/>
                </a:moveTo>
                <a:moveTo>
                  <a:pt x="205206" y="0"/>
                </a:moveTo>
                <a:lnTo>
                  <a:pt x="2073479" y="0"/>
                </a:lnTo>
                <a:quadBezTo>
                  <a:pt x="2278685" y="0"/>
                  <a:pt x="2278685" y="260976"/>
                </a:quadBezTo>
                <a:lnTo>
                  <a:pt x="2278685" y="3183577"/>
                </a:lnTo>
                <a:quadBezTo>
                  <a:pt x="2278685" y="3444553"/>
                  <a:pt x="2073479" y="3444553"/>
                </a:quadBezTo>
                <a:lnTo>
                  <a:pt x="205206" y="3444553"/>
                </a:lnTo>
                <a:quadBezTo>
                  <a:pt x="0" y="3444553"/>
                  <a:pt x="0" y="3183577"/>
                </a:quadBezTo>
                <a:lnTo>
                  <a:pt x="0" y="260976"/>
                </a:lnTo>
                <a:quadBezTo>
                  <a:pt x="0" y="0"/>
                  <a:pt x="205206" y="0"/>
                </a:quadBezTo>
                <a:close/>
              </a:path>
            </a:pathLst>
          </a:custGeom>
          <a:solidFill>
            <a:srgbClr val="FF9B01">
              <a:alpha val="10196"/>
            </a:srgbClr>
          </a:solidFill>
          <a:ln w="9525">
            <a:solidFill>
              <a:srgbClr val="FF9B01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508200" y="3739554"/>
            <a:ext cx="2127809" cy="656539"/>
          </a:xfrm>
          <a:custGeom>
            <a:avLst/>
            <a:gdLst/>
            <a:ahLst/>
            <a:cxnLst/>
            <a:rect l="l" t="t" r="r" b="b"/>
            <a:pathLst>
              <a:path w="2127809" h="656539">
                <a:moveTo>
                  <a:pt x="115736" y="0"/>
                </a:moveTo>
                <a:moveTo>
                  <a:pt x="115736" y="0"/>
                </a:moveTo>
                <a:lnTo>
                  <a:pt x="2012073" y="0"/>
                </a:lnTo>
                <a:quadBezTo>
                  <a:pt x="2127809" y="0"/>
                  <a:pt x="2127809" y="115736"/>
                </a:quadBezTo>
                <a:lnTo>
                  <a:pt x="2127809" y="540803"/>
                </a:lnTo>
                <a:quadBezTo>
                  <a:pt x="2127809" y="656539"/>
                  <a:pt x="2012073" y="656539"/>
                </a:quadBezTo>
                <a:lnTo>
                  <a:pt x="115736" y="656539"/>
                </a:lnTo>
                <a:quadBezTo>
                  <a:pt x="0" y="656539"/>
                  <a:pt x="0" y="540803"/>
                </a:quadBezTo>
                <a:lnTo>
                  <a:pt x="0" y="115736"/>
                </a:lnTo>
                <a:quadBezTo>
                  <a:pt x="0" y="0"/>
                  <a:pt x="115736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66783" y="1184831"/>
            <a:ext cx="810643" cy="7863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168" b="1" dirty="0">
                <a:solidFill>
                  <a:srgbClr val="FF9B01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6111032" y="1024765"/>
            <a:ext cx="2278685" cy="3444553"/>
          </a:xfrm>
          <a:custGeom>
            <a:avLst/>
            <a:gdLst/>
            <a:ahLst/>
            <a:cxnLst/>
            <a:rect l="l" t="t" r="r" b="b"/>
            <a:pathLst>
              <a:path w="2278685" h="3444553">
                <a:moveTo>
                  <a:pt x="205206" y="0"/>
                </a:moveTo>
                <a:moveTo>
                  <a:pt x="205206" y="0"/>
                </a:moveTo>
                <a:lnTo>
                  <a:pt x="2073479" y="0"/>
                </a:lnTo>
                <a:quadBezTo>
                  <a:pt x="2278685" y="0"/>
                  <a:pt x="2278685" y="260976"/>
                </a:quadBezTo>
                <a:lnTo>
                  <a:pt x="2278685" y="3183577"/>
                </a:lnTo>
                <a:quadBezTo>
                  <a:pt x="2278685" y="3444553"/>
                  <a:pt x="2073479" y="3444553"/>
                </a:quadBezTo>
                <a:lnTo>
                  <a:pt x="205206" y="3444553"/>
                </a:lnTo>
                <a:quadBezTo>
                  <a:pt x="0" y="3444553"/>
                  <a:pt x="0" y="3183577"/>
                </a:quadBezTo>
                <a:lnTo>
                  <a:pt x="0" y="260976"/>
                </a:lnTo>
                <a:quadBezTo>
                  <a:pt x="0" y="0"/>
                  <a:pt x="205206" y="0"/>
                </a:quadBezTo>
                <a:close/>
              </a:path>
            </a:pathLst>
          </a:custGeom>
          <a:solidFill>
            <a:srgbClr val="FF9B01">
              <a:alpha val="10196"/>
            </a:srgbClr>
          </a:solidFill>
          <a:ln w="9525">
            <a:solidFill>
              <a:srgbClr val="FF9B01">
                <a:alpha val="7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186470" y="3739554"/>
            <a:ext cx="2127809" cy="656539"/>
          </a:xfrm>
          <a:custGeom>
            <a:avLst/>
            <a:gdLst/>
            <a:ahLst/>
            <a:cxnLst/>
            <a:rect l="l" t="t" r="r" b="b"/>
            <a:pathLst>
              <a:path w="2127809" h="656539">
                <a:moveTo>
                  <a:pt x="115736" y="0"/>
                </a:moveTo>
                <a:moveTo>
                  <a:pt x="115736" y="0"/>
                </a:moveTo>
                <a:lnTo>
                  <a:pt x="2012073" y="0"/>
                </a:lnTo>
                <a:quadBezTo>
                  <a:pt x="2127809" y="0"/>
                  <a:pt x="2127809" y="115736"/>
                </a:quadBezTo>
                <a:lnTo>
                  <a:pt x="2127809" y="540803"/>
                </a:lnTo>
                <a:quadBezTo>
                  <a:pt x="2127809" y="656539"/>
                  <a:pt x="2012073" y="656539"/>
                </a:quadBezTo>
                <a:lnTo>
                  <a:pt x="115736" y="656539"/>
                </a:lnTo>
                <a:quadBezTo>
                  <a:pt x="0" y="656539"/>
                  <a:pt x="0" y="540803"/>
                </a:quadBezTo>
                <a:lnTo>
                  <a:pt x="0" y="115736"/>
                </a:lnTo>
                <a:quadBezTo>
                  <a:pt x="0" y="0"/>
                  <a:pt x="115736" y="0"/>
                </a:quad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45053" y="1184756"/>
            <a:ext cx="810643" cy="7863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168" b="1" dirty="0">
                <a:solidFill>
                  <a:srgbClr val="FF9B01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911657" y="3880371"/>
            <a:ext cx="1981505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Response Structure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816109" y="1971140"/>
            <a:ext cx="217352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API returns standardized JSON responses containing fraud probability score, prediction confidence, and model version for transaction tracking.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3581248" y="3880371"/>
            <a:ext cx="198171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Handling Protocol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3485340" y="1971215"/>
            <a:ext cx="2173529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error codes and messages for missing features, validation failures, and processing errors ensure robust client-side troubleshooting.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259518" y="3894087"/>
            <a:ext cx="1981712" cy="3474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4F7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Time Guarantees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163834" y="1971140"/>
            <a:ext cx="2173081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 guarantees responses within 200ms under normal load conditions, with degraded service notifications during high traffic periods.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3039117" y="3169918"/>
            <a:ext cx="402607" cy="0"/>
          </a:xfrm>
          <a:custGeom>
            <a:avLst/>
            <a:gdLst/>
            <a:ahLst/>
            <a:cxnLst/>
            <a:rect l="l" t="t" r="r" b="b"/>
            <a:pathLst>
              <a:path w="402607">
                <a:moveTo>
                  <a:pt x="0" y="0"/>
                </a:moveTo>
                <a:moveTo>
                  <a:pt x="0" y="0"/>
                </a:moveTo>
                <a:lnTo>
                  <a:pt x="402607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708243" y="3169918"/>
            <a:ext cx="402607" cy="0"/>
          </a:xfrm>
          <a:custGeom>
            <a:avLst/>
            <a:gdLst/>
            <a:ahLst/>
            <a:cxnLst/>
            <a:rect l="l" t="t" r="r" b="b"/>
            <a:pathLst>
              <a:path w="402607">
                <a:moveTo>
                  <a:pt x="0" y="0"/>
                </a:moveTo>
                <a:moveTo>
                  <a:pt x="0" y="0"/>
                </a:moveTo>
                <a:lnTo>
                  <a:pt x="402607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383984" y="3169918"/>
            <a:ext cx="756813" cy="0"/>
          </a:xfrm>
          <a:custGeom>
            <a:avLst/>
            <a:gdLst/>
            <a:ahLst/>
            <a:cxnLst/>
            <a:rect l="l" t="t" r="r" b="b"/>
            <a:pathLst>
              <a:path w="756813">
                <a:moveTo>
                  <a:pt x="0" y="0"/>
                </a:moveTo>
                <a:moveTo>
                  <a:pt x="0" y="0"/>
                </a:moveTo>
                <a:lnTo>
                  <a:pt x="756813" y="0"/>
                </a:lnTo>
              </a:path>
            </a:pathLst>
          </a:custGeom>
          <a:noFill/>
          <a:ln w="19050">
            <a:solidFill>
              <a:srgbClr val="FF9B0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8847" y="1164652"/>
            <a:ext cx="13967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576310" y="2417732"/>
            <a:ext cx="5415715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Deployment &amp; Monitoring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Containerization Strategy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31005" y="1074314"/>
            <a:ext cx="528891" cy="391522"/>
          </a:xfrm>
          <a:custGeom>
            <a:avLst/>
            <a:gdLst/>
            <a:ahLst/>
            <a:cxnLst/>
            <a:rect l="l" t="t" r="r" b="b"/>
            <a:pathLst>
              <a:path w="528891" h="391522">
                <a:moveTo>
                  <a:pt x="0" y="0"/>
                </a:moveTo>
                <a:moveTo>
                  <a:pt x="0" y="0"/>
                </a:moveTo>
                <a:lnTo>
                  <a:pt x="528891" y="0"/>
                </a:lnTo>
                <a:lnTo>
                  <a:pt x="528891" y="391522"/>
                </a:lnTo>
                <a:lnTo>
                  <a:pt x="0" y="391522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59528" y="1068907"/>
            <a:ext cx="3383280" cy="1645920"/>
          </a:xfrm>
          <a:custGeom>
            <a:avLst/>
            <a:gdLst/>
            <a:ahLst/>
            <a:cxnLst/>
            <a:rect l="l" t="t" r="r" b="b"/>
            <a:pathLst>
              <a:path w="3383280" h="1645920">
                <a:moveTo>
                  <a:pt x="0" y="0"/>
                </a:moveTo>
                <a:moveTo>
                  <a:pt x="0" y="0"/>
                </a:moveTo>
                <a:lnTo>
                  <a:pt x="3383280" y="0"/>
                </a:lnTo>
                <a:lnTo>
                  <a:pt x="3383280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FF9B01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54503" y="1292047"/>
            <a:ext cx="3383280" cy="1645920"/>
          </a:xfrm>
          <a:custGeom>
            <a:avLst/>
            <a:gdLst/>
            <a:ahLst/>
            <a:cxnLst/>
            <a:rect l="l" t="t" r="r" b="b"/>
            <a:pathLst>
              <a:path w="3383280" h="1645920">
                <a:moveTo>
                  <a:pt x="0" y="0"/>
                </a:moveTo>
                <a:moveTo>
                  <a:pt x="0" y="0"/>
                </a:moveTo>
                <a:lnTo>
                  <a:pt x="3383280" y="0"/>
                </a:lnTo>
                <a:lnTo>
                  <a:pt x="3383280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FF9B01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744782" y="3012034"/>
            <a:ext cx="3383280" cy="1645920"/>
          </a:xfrm>
          <a:custGeom>
            <a:avLst/>
            <a:gdLst/>
            <a:ahLst/>
            <a:cxnLst/>
            <a:rect l="l" t="t" r="r" b="b"/>
            <a:pathLst>
              <a:path w="3383280" h="1645920">
                <a:moveTo>
                  <a:pt x="0" y="0"/>
                </a:moveTo>
                <a:moveTo>
                  <a:pt x="0" y="0"/>
                </a:moveTo>
                <a:lnTo>
                  <a:pt x="3383280" y="0"/>
                </a:lnTo>
                <a:lnTo>
                  <a:pt x="3383280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FF9B01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33065" y="1065170"/>
            <a:ext cx="688194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896472" y="1160347"/>
            <a:ext cx="3346337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Container Implementation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943775" y="1572883"/>
            <a:ext cx="316511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Package the fraud detection model, dependencies, and API code into a Docker container for consistent deployment across environments.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491399" y="1383523"/>
            <a:ext cx="334638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Microservice Architecture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5538734" y="1805026"/>
            <a:ext cx="315679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the containerized application as a standalone microservice with defined API endpoints for fraud detection requests and responses.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781199" y="3102594"/>
            <a:ext cx="334686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9B0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Orchestration with Kubernetes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828934" y="3537814"/>
            <a:ext cx="3179159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Kubernetes for managing container deployment, scaling, and load balancing to ensure high availability of the fraud detection service.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1215732" y="3016916"/>
            <a:ext cx="528891" cy="391522"/>
          </a:xfrm>
          <a:custGeom>
            <a:avLst/>
            <a:gdLst/>
            <a:ahLst/>
            <a:cxnLst/>
            <a:rect l="l" t="t" r="r" b="b"/>
            <a:pathLst>
              <a:path w="528891" h="391522">
                <a:moveTo>
                  <a:pt x="0" y="0"/>
                </a:moveTo>
                <a:moveTo>
                  <a:pt x="0" y="0"/>
                </a:moveTo>
                <a:lnTo>
                  <a:pt x="528891" y="0"/>
                </a:lnTo>
                <a:lnTo>
                  <a:pt x="528891" y="391522"/>
                </a:lnTo>
                <a:lnTo>
                  <a:pt x="0" y="391522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42580" y="3011509"/>
            <a:ext cx="650309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4925474" y="1297507"/>
            <a:ext cx="528891" cy="391522"/>
          </a:xfrm>
          <a:custGeom>
            <a:avLst/>
            <a:gdLst/>
            <a:ahLst/>
            <a:cxnLst/>
            <a:rect l="l" t="t" r="r" b="b"/>
            <a:pathLst>
              <a:path w="528891" h="391522">
                <a:moveTo>
                  <a:pt x="0" y="0"/>
                </a:moveTo>
                <a:moveTo>
                  <a:pt x="0" y="0"/>
                </a:moveTo>
                <a:lnTo>
                  <a:pt x="528891" y="0"/>
                </a:lnTo>
                <a:lnTo>
                  <a:pt x="528891" y="391522"/>
                </a:lnTo>
                <a:lnTo>
                  <a:pt x="0" y="391522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06602" y="1292100"/>
            <a:ext cx="739524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Considerations</a:t>
            </a:r>
            <a:endParaRPr lang="en-US" sz="1440" dirty="0"/>
          </a:p>
        </p:txBody>
      </p:sp>
      <p:pic>
        <p:nvPicPr>
          <p:cNvPr id="3" name="Image 0" descr="https://oceandoc-ai.obs.ap-southeast-3.myhuaweicloud.com:443/image_1767423006456_9Ws7J7.jpg"/>
          <p:cNvPicPr>
            <a:picLocks noChangeAspect="1"/>
          </p:cNvPicPr>
          <p:nvPr/>
        </p:nvPicPr>
        <p:blipFill>
          <a:blip r:embed="rId4"/>
          <a:srcRect l="9600" r="10400"/>
          <a:stretch/>
        </p:blipFill>
        <p:spPr>
          <a:xfrm>
            <a:off x="379476" y="1187577"/>
            <a:ext cx="2836548" cy="3545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85125" y="1101858"/>
            <a:ext cx="542421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Horizontal Scaling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3385125" y="1412754"/>
            <a:ext cx="537948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Distributing model inference across multiple servers to handle increased request volume, ensuring consistent response times during peak loads.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3385125" y="2239170"/>
            <a:ext cx="5388009" cy="1431546"/>
          </a:xfrm>
          <a:custGeom>
            <a:avLst/>
            <a:gdLst/>
            <a:ahLst/>
            <a:cxnLst/>
            <a:rect l="l" t="t" r="r" b="b"/>
            <a:pathLst>
              <a:path w="5388009" h="1431546">
                <a:moveTo>
                  <a:pt x="0" y="0"/>
                </a:moveTo>
                <a:moveTo>
                  <a:pt x="0" y="0"/>
                </a:moveTo>
                <a:lnTo>
                  <a:pt x="5388009" y="0"/>
                </a:lnTo>
                <a:lnTo>
                  <a:pt x="5388009" y="1431546"/>
                </a:lnTo>
                <a:lnTo>
                  <a:pt x="0" y="1431546"/>
                </a:ln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535669" y="2409732"/>
            <a:ext cx="510116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Vertical Scaling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3535669" y="2723824"/>
            <a:ext cx="51011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Upgrading hardware resources for the model deployment server, including CPU, RAM and storage to improve processing capacity for complex transactions.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3385125" y="3849717"/>
            <a:ext cx="542421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 Balancing Strategy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3385125" y="4151469"/>
            <a:ext cx="537948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Implementing algorithms to distribute incoming fraud detection requests evenly across multiple server instances, preventing bottlenecks and service degradation.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043" y="354703"/>
            <a:ext cx="7640383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Metrics Tracking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1392459" y="1092984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A0A9B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928393" y="1663751"/>
            <a:ext cx="759066" cy="227001"/>
          </a:xfrm>
          <a:custGeom>
            <a:avLst/>
            <a:gdLst/>
            <a:ahLst/>
            <a:cxnLst/>
            <a:rect l="l" t="t" r="r" b="b"/>
            <a:pathLst>
              <a:path w="759066" h="227001">
                <a:moveTo>
                  <a:pt x="759066" y="0"/>
                </a:moveTo>
                <a:moveTo>
                  <a:pt x="759066" y="0"/>
                </a:moveTo>
                <a:lnTo>
                  <a:pt x="0" y="227001"/>
                </a:lnTo>
              </a:path>
            </a:pathLst>
          </a:custGeom>
          <a:noFill/>
          <a:ln w="19050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950563" y="1092984"/>
            <a:ext cx="849980" cy="849980"/>
          </a:xfrm>
          <a:custGeom>
            <a:avLst/>
            <a:gdLst/>
            <a:ahLst/>
            <a:cxnLst/>
            <a:rect l="l" t="t" r="r" b="b"/>
            <a:pathLst>
              <a:path w="849980" h="849980">
                <a:moveTo>
                  <a:pt x="424990" y="0"/>
                </a:moveTo>
                <a:moveTo>
                  <a:pt x="424990" y="0"/>
                </a:moveTo>
                <a:cubicBezTo>
                  <a:pt x="659549" y="0"/>
                  <a:pt x="849980" y="190432"/>
                  <a:pt x="849980" y="424990"/>
                </a:cubicBezTo>
                <a:cubicBezTo>
                  <a:pt x="849980" y="659549"/>
                  <a:pt x="659549" y="849980"/>
                  <a:pt x="424990" y="849980"/>
                </a:cubicBezTo>
                <a:cubicBezTo>
                  <a:pt x="190432" y="849980"/>
                  <a:pt x="0" y="659549"/>
                  <a:pt x="0" y="424990"/>
                </a:cubicBezTo>
                <a:cubicBezTo>
                  <a:pt x="0" y="190432"/>
                  <a:pt x="190432" y="0"/>
                  <a:pt x="424990" y="0"/>
                </a:cubicBezTo>
                <a:close/>
              </a:path>
            </a:pathLst>
          </a:custGeom>
          <a:solidFill>
            <a:srgbClr val="929C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526362" y="1674935"/>
            <a:ext cx="678595" cy="230448"/>
          </a:xfrm>
          <a:custGeom>
            <a:avLst/>
            <a:gdLst/>
            <a:ahLst/>
            <a:cxnLst/>
            <a:rect l="l" t="t" r="r" b="b"/>
            <a:pathLst>
              <a:path w="678595" h="230448">
                <a:moveTo>
                  <a:pt x="0" y="0"/>
                </a:moveTo>
                <a:moveTo>
                  <a:pt x="0" y="0"/>
                </a:moveTo>
                <a:lnTo>
                  <a:pt x="678595" y="230448"/>
                </a:lnTo>
              </a:path>
            </a:pathLst>
          </a:custGeom>
          <a:noFill/>
          <a:ln w="19050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71493" y="2926080"/>
            <a:ext cx="850392" cy="850392"/>
          </a:xfrm>
          <a:custGeom>
            <a:avLst/>
            <a:gdLst/>
            <a:ahLst/>
            <a:cxnLst/>
            <a:rect l="l" t="t" r="r" b="b"/>
            <a:pathLst>
              <a:path w="850392" h="850392">
                <a:moveTo>
                  <a:pt x="425196" y="0"/>
                </a:moveTo>
                <a:moveTo>
                  <a:pt x="425196" y="0"/>
                </a:moveTo>
                <a:cubicBezTo>
                  <a:pt x="659868" y="0"/>
                  <a:pt x="850392" y="190524"/>
                  <a:pt x="850392" y="425196"/>
                </a:cubicBezTo>
                <a:cubicBezTo>
                  <a:pt x="850392" y="659868"/>
                  <a:pt x="659868" y="850392"/>
                  <a:pt x="425196" y="850392"/>
                </a:cubicBezTo>
                <a:cubicBezTo>
                  <a:pt x="190524" y="850392"/>
                  <a:pt x="0" y="659868"/>
                  <a:pt x="0" y="425196"/>
                </a:cubicBezTo>
                <a:cubicBezTo>
                  <a:pt x="0" y="190524"/>
                  <a:pt x="190524" y="0"/>
                  <a:pt x="425196" y="0"/>
                </a:cubicBezTo>
                <a:close/>
              </a:path>
            </a:pathLst>
          </a:custGeom>
          <a:solidFill>
            <a:srgbClr val="929C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96501" y="2471263"/>
            <a:ext cx="0" cy="311213"/>
          </a:xfrm>
          <a:custGeom>
            <a:avLst/>
            <a:gdLst/>
            <a:ahLst/>
            <a:cxnLst/>
            <a:rect l="l" t="t" r="r" b="b"/>
            <a:pathLst>
              <a:path h="311213">
                <a:moveTo>
                  <a:pt x="0" y="0"/>
                </a:moveTo>
                <a:moveTo>
                  <a:pt x="0" y="0"/>
                </a:moveTo>
                <a:lnTo>
                  <a:pt x="0" y="311213"/>
                </a:lnTo>
              </a:path>
            </a:pathLst>
          </a:custGeom>
          <a:noFill/>
          <a:ln w="19050">
            <a:solidFill>
              <a:srgbClr val="A0A9B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8524" y="2039139"/>
            <a:ext cx="2917850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Model Monitoring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58620" y="2414043"/>
            <a:ext cx="2917466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tracking of model performance in production using metrics like precision, recall, and F1-score to detect performance degradation over time.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5916628" y="2039139"/>
            <a:ext cx="2917850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Logging and Alerting System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916532" y="2414043"/>
            <a:ext cx="291785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logging infrastructure that captures prediction details and triggers alerts when performance metrics fall below predetermined thresholds.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1494566" y="4189078"/>
            <a:ext cx="620386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Regular calibration of decision thresholds based on business requirements, balancing false positives against missed fraud cases.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494566" y="3876672"/>
            <a:ext cx="620386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Threshold Optimization</a:t>
            </a:r>
            <a:endParaRPr lang="en-US" sz="144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195" y="1317721"/>
            <a:ext cx="400507" cy="400507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544" y="1345965"/>
            <a:ext cx="344018" cy="34401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824808" y="812868"/>
            <a:ext cx="1543386" cy="1543386"/>
          </a:xfrm>
          <a:custGeom>
            <a:avLst/>
            <a:gdLst/>
            <a:ahLst/>
            <a:cxnLst/>
            <a:rect l="l" t="t" r="r" b="b"/>
            <a:pathLst>
              <a:path w="1543386" h="1543386">
                <a:moveTo>
                  <a:pt x="771693" y="0"/>
                </a:moveTo>
                <a:moveTo>
                  <a:pt x="771693" y="0"/>
                </a:moveTo>
                <a:cubicBezTo>
                  <a:pt x="1197602" y="0"/>
                  <a:pt x="1543386" y="345784"/>
                  <a:pt x="1543386" y="771693"/>
                </a:cubicBezTo>
                <a:cubicBezTo>
                  <a:pt x="1543386" y="1197602"/>
                  <a:pt x="1197602" y="1543386"/>
                  <a:pt x="771693" y="1543386"/>
                </a:cubicBezTo>
                <a:cubicBezTo>
                  <a:pt x="345784" y="1543386"/>
                  <a:pt x="0" y="1197602"/>
                  <a:pt x="0" y="771693"/>
                </a:cubicBezTo>
                <a:cubicBezTo>
                  <a:pt x="0" y="345784"/>
                  <a:pt x="345784" y="0"/>
                  <a:pt x="771693" y="0"/>
                </a:cubicBezTo>
                <a:close/>
              </a:path>
            </a:pathLst>
          </a:custGeom>
          <a:solidFill>
            <a:srgbClr val="FF9B0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007" y="1200067"/>
            <a:ext cx="768987" cy="768987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0949" y="3145536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4056" y="1902833"/>
            <a:ext cx="3275888" cy="8595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On-screen Show (16:9)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Noto Sans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Roynel Cura</cp:lastModifiedBy>
  <cp:revision>2</cp:revision>
  <dcterms:created xsi:type="dcterms:W3CDTF">2026-01-03T06:50:42Z</dcterms:created>
  <dcterms:modified xsi:type="dcterms:W3CDTF">2026-01-03T13:51:27Z</dcterms:modified>
</cp:coreProperties>
</file>